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11B16"/>
          </a:solidFill>
          <a:ln w="10160">
            <a:solidFill>
              <a:srgbClr val="21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713232"/>
            <a:ext cx="1645920" cy="310896"/>
          </a:xfrm>
          <a:prstGeom prst="roundRect">
            <a:avLst/>
          </a:prstGeom>
          <a:solidFill>
            <a:srgbClr val="DEF0E8"/>
          </a:solidFill>
          <a:ln w="10160">
            <a:solidFill>
              <a:srgbClr val="DE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E7E65"/>
                </a:solidFill>
                <a:latin typeface="Microsoft YaHei"/>
              </a:rPr>
              <a:t>指标反馈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8229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211B16"/>
                </a:solidFill>
                <a:latin typeface="Microsoft YaHei"/>
              </a:rPr>
              <a:t>Gugu Agent 指标与反馈迭代系统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65594F"/>
                </a:solidFill>
                <a:latin typeface="Microsoft YaHei"/>
              </a:rPr>
              <a:t>明确看哪些数、怎么收反馈、怎么排优先级、怎么形成每周闭环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143000"/>
            <a:ext cx="3611880" cy="3063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143000"/>
            <a:ext cx="64008" cy="306324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307592"/>
            <a:ext cx="3227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使用方式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719072"/>
            <a:ext cx="322783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这不是品牌稿，而是执行稿。
每页对应一个可落地动作：负责人、输入、产出、节奏和判断标准都要进入周会。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创始人 + 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产品、客服、增长共用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5D9B"/>
                </a:solidFill>
                <a:latin typeface="Microsoft YaHei"/>
              </a:rPr>
              <a:t>90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先验证，再放大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05E2F"/>
                </a:solidFill>
                <a:latin typeface="Microsoft YaHei"/>
              </a:rPr>
              <a:t>小范围高强度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不急着买量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NORTH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北极星指标：有效任务完成数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下载、注册、曝光都只是过程；用户完成真实任务才代表价值发生。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65760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3977639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3273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建议定义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27355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有效任务完成数 = 用户在 Gugu Agent 中完成一次可验收的真实工作。
例：修改代码并验证、生成报告、完成网页查询、整理文件夹。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297180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08760"/>
            <a:ext cx="64008" cy="3977639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73351"/>
            <a:ext cx="2587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为什么不是 DAU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84831"/>
            <a:ext cx="258775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Agent 产品使用频率可能不如聊天高，但单次价值更重。
只看活跃会鼓励无效聊天。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08760"/>
            <a:ext cx="352044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508760"/>
            <a:ext cx="64008" cy="3977639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673351"/>
            <a:ext cx="31363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配套指标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084831"/>
            <a:ext cx="313639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首次成功率、D7 留存、付费转化、毛利/用户、支持工单率。
五个指标一起看，不能单看增长。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METRIC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指标分层：从获客到盈利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每层只放少数能驱动决策的指标。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6459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7E65"/>
                </a:solidFill>
                <a:latin typeface="Microsoft YaHei"/>
              </a:rPr>
              <a:t>获客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访问量、下载点击、渠道来源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214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判断哪个渠道带来真实用户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7" y="16459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65D9B"/>
                </a:solidFill>
                <a:latin typeface="Microsoft YaHei"/>
              </a:rPr>
              <a:t>安装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64592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下载成功、安装成功、首次启动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1214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发现浏览器/系统/签名阻塞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6459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B05E2F"/>
                </a:solidFill>
                <a:latin typeface="Microsoft YaHei"/>
              </a:rPr>
              <a:t>激活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10 分钟首任务、任务模板使用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214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判断新手是否获得价值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900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61188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BE4237"/>
                </a:solidFill>
                <a:latin typeface="Microsoft YaHei"/>
              </a:rPr>
              <a:t>留存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1188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D1、D7、D30、周任务数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873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判断是否形成习惯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2900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7" y="361188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A539D"/>
                </a:solidFill>
                <a:latin typeface="Microsoft YaHei"/>
              </a:rPr>
              <a:t>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79" y="361188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试用转付费、ARPPU、续费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40873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判断套餐是否成立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429000"/>
            <a:ext cx="315468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61188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611880"/>
            <a:ext cx="1965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11B16"/>
                </a:solidFill>
                <a:latin typeface="Microsoft YaHei"/>
              </a:rPr>
              <a:t>模型成本、支持耗时、发布事故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0873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判断毛利和运营压力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事件埋点地图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先把关键漏斗跑通，别一开始埋一堆看不懂的事件。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1790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download_clicked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9961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官网点击下载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99616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channel/version/os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1790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installer_opened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49961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安装包启动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499616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os/browser/referrer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50591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96896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app_first_launch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78608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首次启动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57860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version/os/device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50591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596896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managed_ready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78608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托管模型可用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57860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provider/status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9584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75887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task_started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5760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用户发起任务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6576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template/type/project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29584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675887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task_completed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65760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任务完成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6576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duration/tools/success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08576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754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trial_started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36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试用开始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3659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source/plan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08576"/>
            <a:ext cx="4983480" cy="731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754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265D9B"/>
                </a:solidFill>
                <a:latin typeface="Microsoft YaHei"/>
              </a:rPr>
              <a:t>payment_completed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736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完成付费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73659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594F"/>
                </a:solidFill>
                <a:latin typeface="Microsoft YaHei"/>
              </a:rPr>
              <a:t>plan/amount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激活指标：定义“第一次成功”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没有清晰激活定义，就不知道运营到底有没有效果。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0624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主指标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首任务成功率：首次启动后 10 分钟内，用户完成一个有效任务。
分母：首次启动用户
分子：task_completed 且 success=true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0624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辅助指标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首任务开始率
首任务平均耗时
任务模板点击率
失败后是否继续尝试
首次会话消息轮数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0624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判断规则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低于 30%：优先修 onboarding。
30-40%：继续优化模板和案例。
高于 40%：可以小额加渠道。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留存指标：判断用户是否真的离不开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Agent 产品要看有效复用，不只看打开次数。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D1 留存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次日回来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5856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确认首次体验不差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3677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D7 留存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86537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5D9B"/>
                </a:solidFill>
                <a:latin typeface="Microsoft YaHei"/>
              </a:rPr>
              <a:t>一周复用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25856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判断是否有持续任务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63677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周任务数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86537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05E2F"/>
                </a:solidFill>
                <a:latin typeface="Microsoft YaHei"/>
              </a:rPr>
              <a:t>&gt;=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5856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判断是否进入工作流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50876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163677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深度功能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86537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6A539D"/>
                </a:solidFill>
                <a:latin typeface="Microsoft YaHei"/>
              </a:rPr>
              <a:t>MCP/终端/浏览器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25856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判断专业用户价值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46120"/>
            <a:ext cx="4892040" cy="20574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246120"/>
            <a:ext cx="64008" cy="205740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410712"/>
            <a:ext cx="45079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看分群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822191"/>
            <a:ext cx="450799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新手、开发者、AI 工具玩家、付费用户、重度用户分开看。
混在一起看，会把真正的高价值人群平均掉。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4892040" cy="20574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246120"/>
            <a:ext cx="64008" cy="205740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410712"/>
            <a:ext cx="45079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看 cohort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822191"/>
            <a:ext cx="450799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按注册周、版本、渠道看留存。
每次大版本后都要比较留存是否提升，而不是只看新增。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收入与单位经济模型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商业化必须同时看收入和成本，不然付费用户也可能亏钱。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0624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收入指标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试用转付费率
ARPPU
续费率
退款率
用量包购买率
服务包成交额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0624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成本指标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模型成本/用户
文件解析成本
支持耗时/用户
发布事故成本
支付/渠道费用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06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0624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判断规则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单用户毛利为负：调额度或模型路由。
重度用户成本异常：引导升级 Max/用量包。
服务包毛利高：沉淀为模板。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TRUST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信任与支持指标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桌面产品的安装和更新问题会直接吞掉营销效果。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安装信任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下载完成率
安装成功率
首次启动失败率
浏览器拦截反馈数
杀软误报反馈数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06908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更新稳定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热更新成功率
完整安装包兜底点击率
latest.json 事故数
版本回滚次数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06908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支持效率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首次响应时间
问题解决时间
重复问题占比
FAQ 命中率
日志导出使用率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一页经营看板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每周只看这一页，避免被局部数据带偏。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05740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新增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1728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下载/启动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按渠道拆分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05740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545336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激活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1773936"/>
            <a:ext cx="1728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5D9B"/>
                </a:solidFill>
                <a:latin typeface="Microsoft YaHei"/>
              </a:rPr>
              <a:t>首任务成功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167128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10 分钟内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417320"/>
            <a:ext cx="205740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1545336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1773936"/>
            <a:ext cx="1728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05E2F"/>
                </a:solidFill>
                <a:latin typeface="Microsoft YaHei"/>
              </a:rPr>
              <a:t>D1/D7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167128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按 cohort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17320"/>
            <a:ext cx="205740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1545336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1773936"/>
            <a:ext cx="1728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6A539D"/>
                </a:solidFill>
                <a:latin typeface="Microsoft YaHei"/>
              </a:rPr>
              <a:t>转付费/ARPPU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2167128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按套餐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417320"/>
            <a:ext cx="150876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1545336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1773936"/>
            <a:ext cx="11795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E4237"/>
                </a:solidFill>
                <a:latin typeface="Microsoft YaHei"/>
              </a:rPr>
              <a:t>毛利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2167128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模型+支持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063240"/>
            <a:ext cx="3337560" cy="2194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063240"/>
            <a:ext cx="64008" cy="219456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2278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本周最大阻塞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639312"/>
            <a:ext cx="29535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只列 3 个：例如安装失败、首次任务不知道问什么、模型成本过高。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063240"/>
            <a:ext cx="3337560" cy="2194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063240"/>
            <a:ext cx="64008" cy="21945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7" y="32278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本周实验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3639312"/>
            <a:ext cx="29535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只列 3 个：每个实验要有假设、指标、负责人、截止时间。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063240"/>
            <a:ext cx="3337560" cy="2194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063240"/>
            <a:ext cx="64008" cy="21945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32278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本周用户声音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639312"/>
            <a:ext cx="29535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引用 5 条原话：购买理由、放弃理由、最惊喜点、最大不信任点。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反馈来源：主动收，而不是等用户抱怨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反馈要覆盖定量数据、定性访谈和真实使用记录。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产品内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失败反馈按钮
一键导出日志
任务结束评分
更新失败上报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64008" cy="416052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社群/客服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用户群问题
私聊截图
安装失败截图
付费咨询记录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4008" cy="416052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访谈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首次使用远程
付费用户回访
流失用户访谈
重度用户共创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3317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64008" cy="4160520"/>
          </a:xfrm>
          <a:prstGeom prst="rect">
            <a:avLst/>
          </a:prstGeom>
          <a:solidFill>
            <a:srgbClr val="6A539D"/>
          </a:solidFill>
          <a:ln w="10160">
            <a:solidFill>
              <a:srgbClr val="6A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行为数据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993392"/>
            <a:ext cx="19476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漏斗数据
任务类型
模型消耗
留存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反馈分级：先修阻塞转化的问题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不要被最大声的用户牵着走，用规则排序。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P0 立即处理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无法安装、无法启动、无法登录/激活、付费异常、数据丢失、更新导致不可用。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16052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P1 本周处理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首任务失败、模型不可用、关键工具不可用、工作区记忆混乱、明显降智。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16052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P2/P3 排期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体验优化、低频集成、个别用户定制需求。
除非能复用到目标 ICP，否则不优先。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反馈库字段模板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每条反馈都要能回到用户、版本、场景和经营影响。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64008" cy="123444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190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3055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身份/渠道/套餐/系统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64008" cy="123444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7190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13055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任务类型/入口/是否首任务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5448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64008" cy="123444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7190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3055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客户端版本/更新源/安装方式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900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429000"/>
            <a:ext cx="64008" cy="123444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59359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0507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原话/截图/日志/复现步骤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2900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429000"/>
            <a:ext cx="64008" cy="1234440"/>
          </a:xfrm>
          <a:prstGeom prst="rect">
            <a:avLst/>
          </a:prstGeom>
          <a:solidFill>
            <a:srgbClr val="6A539D"/>
          </a:solidFill>
          <a:ln w="10160">
            <a:solidFill>
              <a:srgbClr val="6A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359359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400507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阻塞安装/阻塞激活/影响付费/成本异常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429000"/>
            <a:ext cx="3108960" cy="12344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429000"/>
            <a:ext cx="64008" cy="1234440"/>
          </a:xfrm>
          <a:prstGeom prst="rect">
            <a:avLst/>
          </a:prstGeom>
          <a:solidFill>
            <a:srgbClr val="211B16"/>
          </a:solidFill>
          <a:ln w="10160">
            <a:solidFill>
              <a:srgbClr val="21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59359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005072"/>
            <a:ext cx="27249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负责人/优先级/状态/回访结果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394960"/>
            <a:ext cx="10698480" cy="640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394960"/>
            <a:ext cx="64008" cy="640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5559552"/>
            <a:ext cx="10314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硬规则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971032"/>
            <a:ext cx="1031443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没有用户身份、场景和版本的反馈，只能作为线索；不能直接进入开发优先级。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实验排期：用 ICE 模型筛选运营实验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每周只跑少数实验，跑完要能判断去留。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Impact 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这个实验影响哪个指标？
优先：首次成功率、D7 留存、试用转付费、毛利。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16052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Confidence 置信度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证据来自哪里？
数据、访谈、用户原话、竞品经验。没有证据就低分。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16052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Ease 容易度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需要几天？需要谁？是否影响发布？
低成本实验先跑，高成本实验要有强证据。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每周反馈迭代闭环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固定节奏让运营、产品和发布真正联动。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数据 + 访谈 + 支持记录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395728"/>
            <a:ext cx="301753" cy="0"/>
          </a:xfrm>
          <a:prstGeom prst="line">
            <a:avLst/>
          </a:prstGeom>
          <a:ln w="25400">
            <a:solidFill>
              <a:srgbClr val="1E7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归因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找到阻塞的漏斗环节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95728"/>
            <a:ext cx="301752" cy="0"/>
          </a:xfrm>
          <a:prstGeom prst="line">
            <a:avLst/>
          </a:prstGeom>
          <a:ln w="25400">
            <a:solidFill>
              <a:srgbClr val="1E7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P0/P1 + 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4" y="2395728"/>
            <a:ext cx="301752" cy="0"/>
          </a:xfrm>
          <a:prstGeom prst="line">
            <a:avLst/>
          </a:prstGeom>
          <a:ln w="25400">
            <a:solidFill>
              <a:srgbClr val="1E7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产品/文档/运营动作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2016" y="2395728"/>
            <a:ext cx="301751" cy="0"/>
          </a:xfrm>
          <a:prstGeom prst="line">
            <a:avLst/>
          </a:prstGeom>
          <a:ln w="25400">
            <a:solidFill>
              <a:srgbClr val="1E7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5594F"/>
                </a:solidFill>
                <a:latin typeface="Microsoft YaHei"/>
              </a:rPr>
              <a:t>看指标和用户回访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977639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977639"/>
            <a:ext cx="64008" cy="15087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14223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55371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看数据，定本周最大 3 个阻塞。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977639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3977639"/>
            <a:ext cx="64008" cy="15087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14223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455371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检查实验进度，补访谈和样本。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977639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3977639"/>
            <a:ext cx="64008" cy="15087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414223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455371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验收结果，决定保留、扩大或停止。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用户访谈提纲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访谈不是听夸奖，而是找到真实任务、阻塞和付费理由。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开场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你平时最想让 AI 帮你完成什么工作？
最近一次类似任务是怎么做的？
为什么想试 Gugu？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使用中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请拿一个真实任务来做。
哪里让你不确定？
哪里让你觉得可信或不可信？
如果失败，你会怎么补救？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结束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你愿意明天再用它做什么？
如果收费，你愿意为哪部分付费？
什么问题会让你立刻弃用？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分群分析：不要让平均数骗你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一个产品可以先在窄人群成立，再向外扩。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按人群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开发者
AI 工具玩家
运营/文档用户
自动化服务商
团队用户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06908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按任务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代码项目
文件资料
浏览器查询
终端执行
IM/自动化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按商业价值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免费试用
Pro
Max
服务包
高成本低收入用户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77840"/>
            <a:ext cx="10835640" cy="5029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577840"/>
            <a:ext cx="64008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742431"/>
            <a:ext cx="10451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经营原则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6153912"/>
            <a:ext cx="10451592" cy="-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如果某个分群留存和毛利明显更好，运营资源要向它倾斜，而不是追求平均增长。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RELEASE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发布后的反馈闭环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每个版本都要回答：它是否让商业指标变好？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发布前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明确版本目标
冒烟测试
更新说明
风险和回滚方案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64008" cy="416052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发布中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监控更新成功率
监控启动失败
客服重点盯安装/更新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4008" cy="416052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发布后 24h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93392"/>
            <a:ext cx="21762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看错误反馈
看热更新失败
看用户原话
必要时回滚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33172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64008" cy="416052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发布后 7d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993392"/>
            <a:ext cx="194767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比较激活、留存、付费、毛利。
决定继续、修补或撤回。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决策阈值：什么时候扩大，什么时候停下来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提前约定规则，避免凭感觉加码。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可以扩大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首任务成功率 &gt;= 40%
D7 留存 &gt;= 20%
试用转付费 &gt;= 8%
毛利为正
支持压力可控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继续打磨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激活低但反馈明确
留存低但首任务成功
付费低但使用高
成本高但重度用户愿升级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必须暂停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安装/更新事故频发
毛利持续为负
用户无法理解定位
客服被重复问题淹没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下周即可启动的最小系统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不用等所有工具完美，先用表格和周会跑起来。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表格 1：用户反馈库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字段：用户、渠道、版本、任务、问题、影响、优先级、负责人、回访结果。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表格 2：经营看板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字段：下载、安装、首任务、D1/D7、付费、模型成本、支持问题。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会议 1：周五复盘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只讨论：哪一步掉人最多、哪类用户最值钱、下周 3 个实验是什么。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metrics &amp; feedback playbook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