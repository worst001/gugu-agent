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7E65"/>
          </a:solidFill>
          <a:ln w="10160">
            <a:solidFill>
              <a:srgbClr val="1E7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211B16"/>
          </a:solidFill>
          <a:ln w="10160">
            <a:solidFill>
              <a:srgbClr val="211B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13232" y="713232"/>
            <a:ext cx="1645920" cy="310896"/>
          </a:xfrm>
          <a:prstGeom prst="roundRect">
            <a:avLst/>
          </a:prstGeom>
          <a:solidFill>
            <a:srgbClr val="DEF0E8"/>
          </a:solidFill>
          <a:ln w="10160">
            <a:solidFill>
              <a:srgbClr val="DEF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1E7E65"/>
                </a:solidFill>
                <a:latin typeface="Microsoft YaHei"/>
              </a:rPr>
              <a:t>运营方案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98448"/>
            <a:ext cx="82296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211B16"/>
                </a:solidFill>
                <a:latin typeface="Microsoft YaHei"/>
              </a:rPr>
              <a:t>Gugu Agent 运营落地执行手册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74980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>
                <a:solidFill>
                  <a:srgbClr val="65594F"/>
                </a:solidFill>
                <a:latin typeface="Microsoft YaHei"/>
              </a:rPr>
              <a:t>从目标用户、首个任务、内容、社群、转化到周节奏的具体打法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1143000"/>
            <a:ext cx="3611880" cy="306324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79" y="1143000"/>
            <a:ext cx="64008" cy="3063240"/>
          </a:xfrm>
          <a:prstGeom prst="rect">
            <a:avLst/>
          </a:prstGeom>
          <a:solidFill>
            <a:srgbClr val="B05E2F"/>
          </a:solidFill>
          <a:ln w="10160">
            <a:solidFill>
              <a:srgbClr val="B05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99248" y="1307592"/>
            <a:ext cx="32278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使用方式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99248" y="1719072"/>
            <a:ext cx="3227832" cy="2423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这不是品牌稿，而是执行稿。
每页对应一个可落地动作：负责人、输入、产出、节奏和判断标准都要进入周会。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572000"/>
            <a:ext cx="2377440" cy="1024128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4700016"/>
            <a:ext cx="204825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19" b="1">
                <a:solidFill>
                  <a:srgbClr val="65594F"/>
                </a:solidFill>
                <a:latin typeface="Microsoft YaHei"/>
              </a:rPr>
              <a:t>对象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928616"/>
            <a:ext cx="204825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1E7E65"/>
                </a:solidFill>
                <a:latin typeface="Microsoft YaHei"/>
              </a:rPr>
              <a:t>创始人 + 运营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5321808"/>
            <a:ext cx="204825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0">
                <a:solidFill>
                  <a:srgbClr val="65594F"/>
                </a:solidFill>
                <a:latin typeface="Microsoft YaHei"/>
              </a:rPr>
              <a:t>产品、客服、增长共用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4572000"/>
            <a:ext cx="2377440" cy="1024128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02152" y="4700016"/>
            <a:ext cx="204825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19" b="1">
                <a:solidFill>
                  <a:srgbClr val="65594F"/>
                </a:solidFill>
                <a:latin typeface="Microsoft YaHei"/>
              </a:rPr>
              <a:t>周期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2152" y="4928616"/>
            <a:ext cx="204825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265D9B"/>
                </a:solidFill>
                <a:latin typeface="Microsoft YaHei"/>
              </a:rPr>
              <a:t>90 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2152" y="5321808"/>
            <a:ext cx="204825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0">
                <a:solidFill>
                  <a:srgbClr val="65594F"/>
                </a:solidFill>
                <a:latin typeface="Microsoft YaHei"/>
              </a:rPr>
              <a:t>先验证，再放大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4572000"/>
            <a:ext cx="2377440" cy="1024128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08192" y="4700016"/>
            <a:ext cx="204825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19" b="1">
                <a:solidFill>
                  <a:srgbClr val="65594F"/>
                </a:solidFill>
                <a:latin typeface="Microsoft YaHei"/>
              </a:rPr>
              <a:t>原则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08192" y="4928616"/>
            <a:ext cx="204825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B05E2F"/>
                </a:solidFill>
                <a:latin typeface="Microsoft YaHei"/>
              </a:rPr>
              <a:t>小范围高强度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08192" y="5321808"/>
            <a:ext cx="204825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0">
                <a:solidFill>
                  <a:srgbClr val="65594F"/>
                </a:solidFill>
                <a:latin typeface="Microsoft YaHei"/>
              </a:rPr>
              <a:t>不急着买量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73952"/>
            <a:ext cx="6766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978676"/>
                </a:solidFill>
                <a:latin typeface="Microsoft YaHei"/>
              </a:rPr>
              <a:t>Gugu Agent operations playbook · 2026.07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2194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1">
                <a:solidFill>
                  <a:srgbClr val="1E7E65"/>
                </a:solidFill>
                <a:latin typeface="Microsoft YaHei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8503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211B16"/>
                </a:solidFill>
                <a:latin typeface="Microsoft YaHei"/>
              </a:rPr>
              <a:t>总目标：90 天验证一条可重复增长路径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42415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5594F"/>
                </a:solidFill>
                <a:latin typeface="Microsoft YaHei"/>
              </a:rPr>
              <a:t>先证明小人群能稳定激活和付费，再决定是否扩大投放。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63040"/>
            <a:ext cx="3337560" cy="425196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63040"/>
            <a:ext cx="64008" cy="4251960"/>
          </a:xfrm>
          <a:prstGeom prst="rect">
            <a:avLst/>
          </a:prstGeom>
          <a:solidFill>
            <a:srgbClr val="1E7E65"/>
          </a:solidFill>
          <a:ln w="10160">
            <a:solidFill>
              <a:srgbClr val="1E7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627632"/>
            <a:ext cx="2953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1. 人群聚焦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39112"/>
            <a:ext cx="2953512" cy="3611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主攻：独立开发者、小团队程序员、AI 工具重度用户。
暂不做泛人群教育，避免内容和支持失焦。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63040"/>
            <a:ext cx="3337560" cy="425196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463040"/>
            <a:ext cx="64008" cy="4251960"/>
          </a:xfrm>
          <a:prstGeom prst="rect">
            <a:avLst/>
          </a:prstGeom>
          <a:solidFill>
            <a:srgbClr val="265D9B"/>
          </a:solidFill>
          <a:ln w="10160">
            <a:solidFill>
              <a:srgbClr val="265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7" y="1627632"/>
            <a:ext cx="2953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2. 激活优先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2039112"/>
            <a:ext cx="2953512" cy="3611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核心不是下载量，而是用户 10 分钟内完成第一个真实任务。
每个运营动作都要服务首次成功。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463040"/>
            <a:ext cx="3337560" cy="425196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79" y="1463040"/>
            <a:ext cx="64008" cy="4251960"/>
          </a:xfrm>
          <a:prstGeom prst="rect">
            <a:avLst/>
          </a:prstGeom>
          <a:solidFill>
            <a:srgbClr val="B05E2F"/>
          </a:solidFill>
          <a:ln w="10160">
            <a:solidFill>
              <a:srgbClr val="B05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5048" y="1627632"/>
            <a:ext cx="2953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3. 商业闭环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2039112"/>
            <a:ext cx="2953512" cy="3611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试用转 Pro / Max，重度用户转用量包或服务包。
不做低价无限强模型。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6766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978676"/>
                </a:solidFill>
                <a:latin typeface="Microsoft YaHei"/>
              </a:rPr>
              <a:t>Gugu Agent operations playbook · 2026.07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2194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1">
                <a:solidFill>
                  <a:srgbClr val="1E7E65"/>
                </a:solidFill>
                <a:latin typeface="Microsoft YaHei"/>
              </a:rPr>
              <a:t>TARGETS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8503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211B16"/>
                </a:solidFill>
                <a:latin typeface="Microsoft YaHei"/>
              </a:rPr>
              <a:t>90 天成功标准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42415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5594F"/>
                </a:solidFill>
                <a:latin typeface="Microsoft YaHei"/>
              </a:rPr>
              <a:t>所有数字先作为经营假设，跑起来后每周复盘修正。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2331720" cy="1024128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36776"/>
            <a:ext cx="200253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19" b="1">
                <a:solidFill>
                  <a:srgbClr val="65594F"/>
                </a:solidFill>
                <a:latin typeface="Microsoft YaHei"/>
              </a:rPr>
              <a:t>深度用户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865376"/>
            <a:ext cx="200253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1E7E65"/>
                </a:solidFill>
                <a:latin typeface="Microsoft YaHei"/>
              </a:rPr>
              <a:t>30-50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258568"/>
            <a:ext cx="200253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0">
                <a:solidFill>
                  <a:srgbClr val="65594F"/>
                </a:solidFill>
                <a:latin typeface="Microsoft YaHei"/>
              </a:rPr>
              <a:t>完成真实任务访谈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508760"/>
            <a:ext cx="2331720" cy="1024128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02152" y="1636776"/>
            <a:ext cx="200253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19" b="1">
                <a:solidFill>
                  <a:srgbClr val="65594F"/>
                </a:solidFill>
                <a:latin typeface="Microsoft YaHei"/>
              </a:rPr>
              <a:t>首次成功率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2152" y="1865376"/>
            <a:ext cx="200253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1E7E65"/>
                </a:solidFill>
                <a:latin typeface="Microsoft YaHei"/>
              </a:rPr>
              <a:t>&gt;= 40%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2152" y="2258568"/>
            <a:ext cx="200253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0">
                <a:solidFill>
                  <a:srgbClr val="65594F"/>
                </a:solidFill>
                <a:latin typeface="Microsoft YaHei"/>
              </a:rPr>
              <a:t>安装后 10 分钟内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1508760"/>
            <a:ext cx="2331720" cy="1024128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08192" y="1636776"/>
            <a:ext cx="200253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19" b="1">
                <a:solidFill>
                  <a:srgbClr val="65594F"/>
                </a:solidFill>
                <a:latin typeface="Microsoft YaHei"/>
              </a:rPr>
              <a:t>D7 留存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08192" y="1865376"/>
            <a:ext cx="200253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265D9B"/>
                </a:solidFill>
                <a:latin typeface="Microsoft YaHei"/>
              </a:rPr>
              <a:t>&gt;= 20%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08192" y="2258568"/>
            <a:ext cx="200253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0">
                <a:solidFill>
                  <a:srgbClr val="65594F"/>
                </a:solidFill>
                <a:latin typeface="Microsoft YaHei"/>
              </a:rPr>
              <a:t>一周后仍使用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49640" y="1508760"/>
            <a:ext cx="2331720" cy="1024128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14232" y="1636776"/>
            <a:ext cx="200253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19" b="1">
                <a:solidFill>
                  <a:srgbClr val="65594F"/>
                </a:solidFill>
                <a:latin typeface="Microsoft YaHei"/>
              </a:rPr>
              <a:t>试用转付费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14232" y="1865376"/>
            <a:ext cx="200253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B05E2F"/>
                </a:solidFill>
                <a:latin typeface="Microsoft YaHei"/>
              </a:rPr>
              <a:t>&gt;= 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14232" y="2258568"/>
            <a:ext cx="200253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0">
                <a:solidFill>
                  <a:srgbClr val="65594F"/>
                </a:solidFill>
                <a:latin typeface="Microsoft YaHei"/>
              </a:rPr>
              <a:t>先小样本验证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108960"/>
            <a:ext cx="3154680" cy="214884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3108960"/>
            <a:ext cx="64008" cy="2148840"/>
          </a:xfrm>
          <a:prstGeom prst="rect">
            <a:avLst/>
          </a:prstGeom>
          <a:solidFill>
            <a:srgbClr val="1E7E65"/>
          </a:solidFill>
          <a:ln w="10160">
            <a:solidFill>
              <a:srgbClr val="1E7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3273552"/>
            <a:ext cx="27706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必须达成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3685032"/>
            <a:ext cx="2770632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安装/更新重大阻塞下降；官网能解释安全、能力、价格；至少 5 个真实案例可公开展示。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51960" y="3108960"/>
            <a:ext cx="3154680" cy="214884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51960" y="3108960"/>
            <a:ext cx="64008" cy="2148840"/>
          </a:xfrm>
          <a:prstGeom prst="rect">
            <a:avLst/>
          </a:prstGeom>
          <a:solidFill>
            <a:srgbClr val="BE4237"/>
          </a:solidFill>
          <a:ln w="10160">
            <a:solidFill>
              <a:srgbClr val="BE4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53128" y="3273552"/>
            <a:ext cx="27706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暂不追求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53128" y="3685032"/>
            <a:ext cx="2770632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大量曝光、泛流量转发、一次性大发布、复杂企业销售流程。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0" y="3108960"/>
            <a:ext cx="3154680" cy="214884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72400" y="3108960"/>
            <a:ext cx="64008" cy="2148840"/>
          </a:xfrm>
          <a:prstGeom prst="rect">
            <a:avLst/>
          </a:prstGeom>
          <a:solidFill>
            <a:srgbClr val="265D9B"/>
          </a:solidFill>
          <a:ln w="10160">
            <a:solidFill>
              <a:srgbClr val="265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73568" y="3273552"/>
            <a:ext cx="27706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经营判断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73568" y="3685032"/>
            <a:ext cx="2770632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如果激活和留存不过线，继续修产品和 onboarding；如果过线，再小额放大渠道。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473952"/>
            <a:ext cx="6766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978676"/>
                </a:solidFill>
                <a:latin typeface="Microsoft YaHei"/>
              </a:rPr>
              <a:t>Gugu Agent operations playbook · 2026.07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2194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1">
                <a:solidFill>
                  <a:srgbClr val="1E7E65"/>
                </a:solidFill>
                <a:latin typeface="Microsoft YaHei"/>
              </a:rPr>
              <a:t>ICP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8503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211B16"/>
                </a:solidFill>
                <a:latin typeface="Microsoft YaHei"/>
              </a:rPr>
              <a:t>ICP 选择矩阵：先选最容易成功的一群人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42415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5594F"/>
                </a:solidFill>
                <a:latin typeface="Microsoft YaHei"/>
              </a:rPr>
              <a:t>目标用户越窄，首个任务、内容、转化和支持越好做。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08760"/>
            <a:ext cx="2286000" cy="502920"/>
          </a:xfrm>
          <a:prstGeom prst="rect">
            <a:avLst/>
          </a:prstGeom>
          <a:solidFill>
            <a:srgbClr val="1E7E65"/>
          </a:solidFill>
          <a:ln w="10160">
            <a:solidFill>
              <a:srgbClr val="1E7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664207"/>
            <a:ext cx="213969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FFFBF3"/>
                </a:solidFill>
                <a:latin typeface="Microsoft YaHei"/>
              </a:rPr>
              <a:t>人群</a:t>
            </a:r>
          </a:p>
        </p:txBody>
      </p:sp>
      <p:sp>
        <p:nvSpPr>
          <p:cNvPr id="7" name="Rectangle 6"/>
          <p:cNvSpPr/>
          <p:nvPr/>
        </p:nvSpPr>
        <p:spPr>
          <a:xfrm>
            <a:off x="2971800" y="1508760"/>
            <a:ext cx="1508760" cy="502920"/>
          </a:xfrm>
          <a:prstGeom prst="rect">
            <a:avLst/>
          </a:prstGeom>
          <a:solidFill>
            <a:srgbClr val="1E7E65"/>
          </a:solidFill>
          <a:ln w="10160">
            <a:solidFill>
              <a:srgbClr val="1E7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44952" y="1664207"/>
            <a:ext cx="136245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FFFBF3"/>
                </a:solidFill>
                <a:latin typeface="Microsoft YaHei"/>
              </a:rPr>
              <a:t>痛点强度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1508760"/>
            <a:ext cx="1508760" cy="502920"/>
          </a:xfrm>
          <a:prstGeom prst="rect">
            <a:avLst/>
          </a:prstGeom>
          <a:solidFill>
            <a:srgbClr val="1E7E65"/>
          </a:solidFill>
          <a:ln w="10160">
            <a:solidFill>
              <a:srgbClr val="1E7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664207"/>
            <a:ext cx="136245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FFFBF3"/>
                </a:solidFill>
                <a:latin typeface="Microsoft YaHei"/>
              </a:rPr>
              <a:t>付费意愿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508760"/>
            <a:ext cx="1508760" cy="502920"/>
          </a:xfrm>
          <a:prstGeom prst="rect">
            <a:avLst/>
          </a:prstGeom>
          <a:solidFill>
            <a:srgbClr val="1E7E65"/>
          </a:solidFill>
          <a:ln w="10160">
            <a:solidFill>
              <a:srgbClr val="1E7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62472" y="1664207"/>
            <a:ext cx="136245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FFFBF3"/>
                </a:solidFill>
                <a:latin typeface="Microsoft YaHei"/>
              </a:rPr>
              <a:t>反馈质量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0" y="1508760"/>
            <a:ext cx="3383280" cy="502920"/>
          </a:xfrm>
          <a:prstGeom prst="rect">
            <a:avLst/>
          </a:prstGeom>
          <a:solidFill>
            <a:srgbClr val="1E7E65"/>
          </a:solidFill>
          <a:ln w="10160">
            <a:solidFill>
              <a:srgbClr val="1E7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71232" y="1664207"/>
            <a:ext cx="323697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FFFBF3"/>
                </a:solidFill>
                <a:latin typeface="Microsoft YaHei"/>
              </a:rPr>
              <a:t>首阶段策略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2011680"/>
            <a:ext cx="2286000" cy="713232"/>
          </a:xfrm>
          <a:prstGeom prst="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176272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80" b="1">
                <a:solidFill>
                  <a:srgbClr val="211B16"/>
                </a:solidFill>
                <a:latin typeface="Microsoft YaHei"/>
              </a:rPr>
              <a:t>独立开发者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71800" y="2011680"/>
            <a:ext cx="1508760" cy="713232"/>
          </a:xfrm>
          <a:prstGeom prst="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63240" y="2176272"/>
            <a:ext cx="1325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80" b="0">
                <a:solidFill>
                  <a:srgbClr val="65594F"/>
                </a:solidFill>
                <a:latin typeface="Microsoft YaHei"/>
              </a:rPr>
              <a:t>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2011680"/>
            <a:ext cx="1508760" cy="713232"/>
          </a:xfrm>
          <a:prstGeom prst="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2176272"/>
            <a:ext cx="1325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80" b="0">
                <a:solidFill>
                  <a:srgbClr val="65594F"/>
                </a:solidFill>
                <a:latin typeface="Microsoft YaHei"/>
              </a:rPr>
              <a:t>中高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2011680"/>
            <a:ext cx="1508760" cy="713232"/>
          </a:xfrm>
          <a:prstGeom prst="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80760" y="2176272"/>
            <a:ext cx="1325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80" b="0">
                <a:solidFill>
                  <a:srgbClr val="65594F"/>
                </a:solidFill>
                <a:latin typeface="Microsoft YaHei"/>
              </a:rPr>
              <a:t>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8080" y="2011680"/>
            <a:ext cx="3383280" cy="713232"/>
          </a:xfrm>
          <a:prstGeom prst="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0" y="2176272"/>
            <a:ext cx="3200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80" b="0">
                <a:solidFill>
                  <a:srgbClr val="65594F"/>
                </a:solidFill>
                <a:latin typeface="Microsoft YaHei"/>
              </a:rPr>
              <a:t>主攻：读项目、修 bug、跑命令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2724912"/>
            <a:ext cx="2286000" cy="713232"/>
          </a:xfrm>
          <a:prstGeom prst="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2889504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80" b="1">
                <a:solidFill>
                  <a:srgbClr val="211B16"/>
                </a:solidFill>
                <a:latin typeface="Microsoft YaHei"/>
              </a:rPr>
              <a:t>AI 工具玩家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71800" y="2724912"/>
            <a:ext cx="1508760" cy="713232"/>
          </a:xfrm>
          <a:prstGeom prst="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63240" y="2889504"/>
            <a:ext cx="1325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80" b="0">
                <a:solidFill>
                  <a:srgbClr val="65594F"/>
                </a:solidFill>
                <a:latin typeface="Microsoft YaHei"/>
              </a:rPr>
              <a:t>高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80560" y="2724912"/>
            <a:ext cx="1508760" cy="713232"/>
          </a:xfrm>
          <a:prstGeom prst="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0" y="2889504"/>
            <a:ext cx="1325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80" b="0">
                <a:solidFill>
                  <a:srgbClr val="65594F"/>
                </a:solidFill>
                <a:latin typeface="Microsoft YaHei"/>
              </a:rPr>
              <a:t>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89320" y="2724912"/>
            <a:ext cx="1508760" cy="713232"/>
          </a:xfrm>
          <a:prstGeom prst="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80760" y="2889504"/>
            <a:ext cx="1325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80" b="0">
                <a:solidFill>
                  <a:srgbClr val="65594F"/>
                </a:solidFill>
                <a:latin typeface="Microsoft YaHei"/>
              </a:rPr>
              <a:t>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98080" y="2724912"/>
            <a:ext cx="3383280" cy="713232"/>
          </a:xfrm>
          <a:prstGeom prst="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89520" y="2889504"/>
            <a:ext cx="3200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80" b="0">
                <a:solidFill>
                  <a:srgbClr val="65594F"/>
                </a:solidFill>
                <a:latin typeface="Microsoft YaHei"/>
              </a:rPr>
              <a:t>作为种子用户，贡献教程和插件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" y="3438144"/>
            <a:ext cx="2286000" cy="713232"/>
          </a:xfrm>
          <a:prstGeom prst="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3602736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80" b="1">
                <a:solidFill>
                  <a:srgbClr val="211B16"/>
                </a:solidFill>
                <a:latin typeface="Microsoft YaHei"/>
              </a:rPr>
              <a:t>中小团队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971800" y="3438144"/>
            <a:ext cx="1508760" cy="713232"/>
          </a:xfrm>
          <a:prstGeom prst="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063240" y="3602736"/>
            <a:ext cx="1325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80" b="0">
                <a:solidFill>
                  <a:srgbClr val="65594F"/>
                </a:solidFill>
                <a:latin typeface="Microsoft YaHei"/>
              </a:rPr>
              <a:t>中高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80560" y="3438144"/>
            <a:ext cx="1508760" cy="713232"/>
          </a:xfrm>
          <a:prstGeom prst="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0" y="3602736"/>
            <a:ext cx="1325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80" b="0">
                <a:solidFill>
                  <a:srgbClr val="65594F"/>
                </a:solidFill>
                <a:latin typeface="Microsoft YaHei"/>
              </a:rPr>
              <a:t>高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89320" y="3438144"/>
            <a:ext cx="1508760" cy="713232"/>
          </a:xfrm>
          <a:prstGeom prst="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3602736"/>
            <a:ext cx="1325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80" b="0">
                <a:solidFill>
                  <a:srgbClr val="65594F"/>
                </a:solidFill>
                <a:latin typeface="Microsoft YaHei"/>
              </a:rPr>
              <a:t>中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8080" y="3438144"/>
            <a:ext cx="3383280" cy="713232"/>
          </a:xfrm>
          <a:prstGeom prst="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89520" y="3602736"/>
            <a:ext cx="3200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80" b="0">
                <a:solidFill>
                  <a:srgbClr val="65594F"/>
                </a:solidFill>
                <a:latin typeface="Microsoft YaHei"/>
              </a:rPr>
              <a:t>先用服务包试卖，不急着团队 SaaS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85800" y="4151376"/>
            <a:ext cx="2286000" cy="713232"/>
          </a:xfrm>
          <a:prstGeom prst="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" y="431596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80" b="1">
                <a:solidFill>
                  <a:srgbClr val="211B16"/>
                </a:solidFill>
                <a:latin typeface="Microsoft YaHei"/>
              </a:rPr>
              <a:t>泛办公用户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971800" y="4151376"/>
            <a:ext cx="1508760" cy="713232"/>
          </a:xfrm>
          <a:prstGeom prst="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063240" y="4315968"/>
            <a:ext cx="1325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80" b="0">
                <a:solidFill>
                  <a:srgbClr val="65594F"/>
                </a:solidFill>
                <a:latin typeface="Microsoft YaHei"/>
              </a:rPr>
              <a:t>中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480560" y="4151376"/>
            <a:ext cx="1508760" cy="713232"/>
          </a:xfrm>
          <a:prstGeom prst="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0" y="4315968"/>
            <a:ext cx="1325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80" b="0">
                <a:solidFill>
                  <a:srgbClr val="65594F"/>
                </a:solidFill>
                <a:latin typeface="Microsoft YaHei"/>
              </a:rPr>
              <a:t>未知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89320" y="4151376"/>
            <a:ext cx="1508760" cy="713232"/>
          </a:xfrm>
          <a:prstGeom prst="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080760" y="4315968"/>
            <a:ext cx="1325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80" b="0">
                <a:solidFill>
                  <a:srgbClr val="65594F"/>
                </a:solidFill>
                <a:latin typeface="Microsoft YaHei"/>
              </a:rPr>
              <a:t>低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98080" y="4151376"/>
            <a:ext cx="3383280" cy="713232"/>
          </a:xfrm>
          <a:prstGeom prst="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589520" y="4315968"/>
            <a:ext cx="3200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80" b="0">
                <a:solidFill>
                  <a:srgbClr val="65594F"/>
                </a:solidFill>
                <a:latin typeface="Microsoft YaHei"/>
              </a:rPr>
              <a:t>暂缓，等模板和引导成熟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85800" y="5074920"/>
            <a:ext cx="10469880" cy="658368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85800" y="5074920"/>
            <a:ext cx="64008" cy="658368"/>
          </a:xfrm>
          <a:prstGeom prst="rect">
            <a:avLst/>
          </a:prstGeom>
          <a:solidFill>
            <a:srgbClr val="B05E2F"/>
          </a:solidFill>
          <a:ln w="10160">
            <a:solidFill>
              <a:srgbClr val="B05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86968" y="5239512"/>
            <a:ext cx="100858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决策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86968" y="5650992"/>
            <a:ext cx="10085832" cy="182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第一阶段所有素材和 onboarding 都围绕“开发者真实任务”设计；其他人群只收集线索，不主动扩张。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94360" y="6473952"/>
            <a:ext cx="6766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978676"/>
                </a:solidFill>
                <a:latin typeface="Microsoft YaHei"/>
              </a:rPr>
              <a:t>Gugu Agent operations playbook · 2026.07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2194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1">
                <a:solidFill>
                  <a:srgbClr val="1E7E65"/>
                </a:solidFill>
                <a:latin typeface="Microsoft YaHei"/>
              </a:rPr>
              <a:t>PACKAGES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8503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211B16"/>
                </a:solidFill>
                <a:latin typeface="Microsoft YaHei"/>
              </a:rPr>
              <a:t>产品包装：把能力拆成 3 个可卖的任务包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42415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5594F"/>
                </a:solidFill>
                <a:latin typeface="Microsoft YaHei"/>
              </a:rPr>
              <a:t>用户买的是结果，不是功能清单。每个任务包都要有演示、模板和验收标准。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3337560" cy="3977639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08760"/>
            <a:ext cx="64008" cy="3977639"/>
          </a:xfrm>
          <a:prstGeom prst="rect">
            <a:avLst/>
          </a:prstGeom>
          <a:solidFill>
            <a:srgbClr val="1E7E65"/>
          </a:solidFill>
          <a:ln w="10160">
            <a:solidFill>
              <a:srgbClr val="1E7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673351"/>
            <a:ext cx="2953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A. 代码项目助手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2953512" cy="33375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典型任务：读项目结构、找启动方式、定位报错、修小 bug、生成变更说明。
验收：用户能用自己的项目跑通一次。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508760"/>
            <a:ext cx="3337560" cy="3977639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508760"/>
            <a:ext cx="64008" cy="3977639"/>
          </a:xfrm>
          <a:prstGeom prst="rect">
            <a:avLst/>
          </a:prstGeom>
          <a:solidFill>
            <a:srgbClr val="265D9B"/>
          </a:solidFill>
          <a:ln w="10160">
            <a:solidFill>
              <a:srgbClr val="265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7" y="1673351"/>
            <a:ext cx="2953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B. 文件/资料处理助手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2084831"/>
            <a:ext cx="2953512" cy="33375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典型任务：总结文档、提取表格、对比资料、生成报告。
验收：用户拿到可直接使用的输出。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508760"/>
            <a:ext cx="3337560" cy="3977639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79" y="1508760"/>
            <a:ext cx="64008" cy="3977639"/>
          </a:xfrm>
          <a:prstGeom prst="rect">
            <a:avLst/>
          </a:prstGeom>
          <a:solidFill>
            <a:srgbClr val="B05E2F"/>
          </a:solidFill>
          <a:ln w="10160">
            <a:solidFill>
              <a:srgbClr val="B05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5048" y="1673351"/>
            <a:ext cx="2953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C. 浏览器/终端工作台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2084831"/>
            <a:ext cx="2953512" cy="33375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典型任务：查网页、跑命令、整理结果、输出操作记录。
验收：用户看到可控过程，而不是黑箱回答。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6766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978676"/>
                </a:solidFill>
                <a:latin typeface="Microsoft YaHei"/>
              </a:rPr>
              <a:t>Gugu Agent operations playbook · 2026.07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2194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1">
                <a:solidFill>
                  <a:srgbClr val="1E7E65"/>
                </a:solidFill>
                <a:latin typeface="Microsoft YaHei"/>
              </a:rPr>
              <a:t>ACTIVATION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8503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211B16"/>
                </a:solidFill>
                <a:latin typeface="Microsoft YaHei"/>
              </a:rPr>
              <a:t>首次成功任务漏斗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42415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5594F"/>
                </a:solidFill>
                <a:latin typeface="Microsoft YaHei"/>
              </a:rPr>
              <a:t>每个环节都要有运营动作和兜底方案。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1874519" cy="1207008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56816"/>
            <a:ext cx="1627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211B16"/>
                </a:solidFill>
                <a:latin typeface="Microsoft YaHei"/>
              </a:rPr>
              <a:t>下载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1600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19" b="0">
                <a:solidFill>
                  <a:srgbClr val="65594F"/>
                </a:solidFill>
                <a:latin typeface="Microsoft YaHei"/>
              </a:rPr>
              <a:t>官网说明安全
提供完整安装包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68879" y="2395728"/>
            <a:ext cx="301753" cy="0"/>
          </a:xfrm>
          <a:prstGeom prst="line">
            <a:avLst/>
          </a:prstGeom>
          <a:ln w="25400">
            <a:solidFill>
              <a:srgbClr val="B05E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62072" y="1783080"/>
            <a:ext cx="1874519" cy="1207008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80944" y="1956816"/>
            <a:ext cx="1627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211B16"/>
                </a:solidFill>
                <a:latin typeface="Microsoft YaHei"/>
              </a:rPr>
              <a:t>安装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9232" y="2377440"/>
            <a:ext cx="1600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19" b="0">
                <a:solidFill>
                  <a:srgbClr val="65594F"/>
                </a:solidFill>
                <a:latin typeface="Microsoft YaHei"/>
              </a:rPr>
              <a:t>安装 FAQ
失败图示指引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736592" y="2395728"/>
            <a:ext cx="301752" cy="0"/>
          </a:xfrm>
          <a:prstGeom prst="line">
            <a:avLst/>
          </a:prstGeom>
          <a:ln w="25400">
            <a:solidFill>
              <a:srgbClr val="B05E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29784" y="1783080"/>
            <a:ext cx="1874519" cy="1207008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48656" y="1956816"/>
            <a:ext cx="1627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211B16"/>
                </a:solidFill>
                <a:latin typeface="Microsoft YaHei"/>
              </a:rPr>
              <a:t>启动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66944" y="2377440"/>
            <a:ext cx="1600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19" b="0">
                <a:solidFill>
                  <a:srgbClr val="65594F"/>
                </a:solidFill>
                <a:latin typeface="Microsoft YaHei"/>
              </a:rPr>
              <a:t>托管模型默认可用
不要先配置复杂项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004304" y="2395728"/>
            <a:ext cx="301752" cy="0"/>
          </a:xfrm>
          <a:prstGeom prst="line">
            <a:avLst/>
          </a:prstGeom>
          <a:ln w="25400">
            <a:solidFill>
              <a:srgbClr val="B05E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97496" y="1783080"/>
            <a:ext cx="1874519" cy="1207008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16368" y="1956816"/>
            <a:ext cx="1627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211B16"/>
                </a:solidFill>
                <a:latin typeface="Microsoft YaHei"/>
              </a:rPr>
              <a:t>选任务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34656" y="2377440"/>
            <a:ext cx="1600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19" b="0">
                <a:solidFill>
                  <a:srgbClr val="65594F"/>
                </a:solidFill>
                <a:latin typeface="Microsoft YaHei"/>
              </a:rPr>
              <a:t>给 3 个任务按钮
不要空白输入框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272016" y="2395728"/>
            <a:ext cx="301751" cy="0"/>
          </a:xfrm>
          <a:prstGeom prst="line">
            <a:avLst/>
          </a:prstGeom>
          <a:ln w="25400">
            <a:solidFill>
              <a:srgbClr val="B05E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665208" y="1783080"/>
            <a:ext cx="1874519" cy="1207008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0" y="1956816"/>
            <a:ext cx="1627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211B16"/>
                </a:solidFill>
                <a:latin typeface="Microsoft YaHei"/>
              </a:rPr>
              <a:t>完成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02368" y="2377440"/>
            <a:ext cx="1600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19" b="0">
                <a:solidFill>
                  <a:srgbClr val="65594F"/>
                </a:solidFill>
                <a:latin typeface="Microsoft YaHei"/>
              </a:rPr>
              <a:t>展示结果 + 下一步
引导保存/继续问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3886200"/>
            <a:ext cx="3154680" cy="150876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" y="3886200"/>
            <a:ext cx="64008" cy="1508760"/>
          </a:xfrm>
          <a:prstGeom prst="rect">
            <a:avLst/>
          </a:prstGeom>
          <a:solidFill>
            <a:srgbClr val="1E7E65"/>
          </a:solidFill>
          <a:ln w="10160">
            <a:solidFill>
              <a:srgbClr val="1E7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4128" y="4050791"/>
            <a:ext cx="27706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运营动作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" y="4462272"/>
            <a:ext cx="277063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每周抽 10 个新用户，看他们卡在哪一步；卡点超过 20% 就进入本周修复。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34840" y="3886200"/>
            <a:ext cx="3154680" cy="150876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34840" y="3886200"/>
            <a:ext cx="64008" cy="1508760"/>
          </a:xfrm>
          <a:prstGeom prst="rect">
            <a:avLst/>
          </a:prstGeom>
          <a:solidFill>
            <a:srgbClr val="265D9B"/>
          </a:solidFill>
          <a:ln w="10160">
            <a:solidFill>
              <a:srgbClr val="265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36007" y="4050791"/>
            <a:ext cx="27706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产品动作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36007" y="4462272"/>
            <a:ext cx="277063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新用户默认展示 3 个任务模板：读项目、修报错、总结文件。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20" y="3886200"/>
            <a:ext cx="3154680" cy="150876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6720" y="3886200"/>
            <a:ext cx="64008" cy="1508760"/>
          </a:xfrm>
          <a:prstGeom prst="rect">
            <a:avLst/>
          </a:prstGeom>
          <a:solidFill>
            <a:srgbClr val="B05E2F"/>
          </a:solidFill>
          <a:ln w="10160">
            <a:solidFill>
              <a:srgbClr val="B05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47888" y="4050791"/>
            <a:ext cx="27706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客服动作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47888" y="4462272"/>
            <a:ext cx="277063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安装失败、更新失败、模型不可用，都给一键诊断和完整安装包兜底。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6473952"/>
            <a:ext cx="6766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978676"/>
                </a:solidFill>
                <a:latin typeface="Microsoft YaHei"/>
              </a:rPr>
              <a:t>Gugu Agent operations playbook · 2026.07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2194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1">
                <a:solidFill>
                  <a:srgbClr val="1E7E65"/>
                </a:solidFill>
                <a:latin typeface="Microsoft YaHei"/>
              </a:rPr>
              <a:t>SOP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8503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211B16"/>
                </a:solidFill>
                <a:latin typeface="Microsoft YaHei"/>
              </a:rPr>
              <a:t>手动 onboarding SOP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42415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5594F"/>
                </a:solidFill>
                <a:latin typeface="Microsoft YaHei"/>
              </a:rPr>
              <a:t>早期不要怕手动，最值钱的信息来自第一次使用现场。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2331720" cy="3246120"/>
          </a:xfrm>
          <a:prstGeom prst="roundRect">
            <a:avLst/>
          </a:prstGeom>
          <a:solidFill>
            <a:srgbClr val="DEF0E8"/>
          </a:solidFill>
          <a:ln w="10160">
            <a:solidFill>
              <a:srgbClr val="DEF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74519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1E7E65"/>
                </a:solidFill>
                <a:latin typeface="Microsoft YaHei"/>
              </a:rPr>
              <a:t>预约前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60320"/>
            <a:ext cx="1874519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211B16"/>
                </a:solidFill>
                <a:latin typeface="Microsoft YaHei"/>
              </a:rPr>
              <a:t>确认用户身份、设备、真实任务
发安装包和 3 个任务示例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600200"/>
            <a:ext cx="2331720" cy="3246120"/>
          </a:xfrm>
          <a:prstGeom prst="roundRect">
            <a:avLst/>
          </a:prstGeom>
          <a:solidFill>
            <a:srgbClr val="E1EDFA"/>
          </a:solidFill>
          <a:ln w="10160">
            <a:solidFill>
              <a:srgbClr val="E1ED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39" y="1874519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265D9B"/>
                </a:solidFill>
                <a:latin typeface="Microsoft YaHei"/>
              </a:rPr>
              <a:t>10 分钟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2560320"/>
            <a:ext cx="1874519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211B16"/>
                </a:solidFill>
                <a:latin typeface="Microsoft YaHei"/>
              </a:rPr>
              <a:t>协助安装启动
观察哪里不信任、哪里看不懂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79" y="1600200"/>
            <a:ext cx="2331720" cy="3246120"/>
          </a:xfrm>
          <a:prstGeom prst="roundRect">
            <a:avLst/>
          </a:prstGeom>
          <a:solidFill>
            <a:srgbClr val="F7E6D5"/>
          </a:solidFill>
          <a:ln w="10160">
            <a:solidFill>
              <a:srgbClr val="F7E6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59" y="1874519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B05E2F"/>
                </a:solidFill>
                <a:latin typeface="Microsoft YaHei"/>
              </a:rPr>
              <a:t>20 分钟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79" y="2560320"/>
            <a:ext cx="1874519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211B16"/>
                </a:solidFill>
                <a:latin typeface="Microsoft YaHei"/>
              </a:rPr>
              <a:t>让用户拿自己的任务跑一次
不要演示假案例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999" y="1600200"/>
            <a:ext cx="2331720" cy="3246120"/>
          </a:xfrm>
          <a:prstGeom prst="roundRect">
            <a:avLst/>
          </a:prstGeom>
          <a:solidFill>
            <a:srgbClr val="EDE7F8"/>
          </a:solidFill>
          <a:ln w="10160">
            <a:solidFill>
              <a:srgbClr val="EDE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79" y="1874519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6A539D"/>
                </a:solidFill>
                <a:latin typeface="Microsoft YaHei"/>
              </a:rPr>
              <a:t>10 分钟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599" y="2560320"/>
            <a:ext cx="1874519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211B16"/>
                </a:solidFill>
                <a:latin typeface="Microsoft YaHei"/>
              </a:rPr>
              <a:t>记录结果、阻塞、愿付费理由
约定 3 天后回访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5257800"/>
            <a:ext cx="10744200" cy="658368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5257800"/>
            <a:ext cx="64008" cy="658368"/>
          </a:xfrm>
          <a:prstGeom prst="rect">
            <a:avLst/>
          </a:prstGeom>
          <a:solidFill>
            <a:srgbClr val="1E7E65"/>
          </a:solidFill>
          <a:ln w="10160">
            <a:solidFill>
              <a:srgbClr val="1E7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" y="5422392"/>
            <a:ext cx="1036015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产出物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5833872"/>
            <a:ext cx="10360152" cy="182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每次 onboarding 必须沉淀：用户画像、任务类型、成功/失败原因、是否愿付费、下一步产品动作。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6766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978676"/>
                </a:solidFill>
                <a:latin typeface="Microsoft YaHei"/>
              </a:rPr>
              <a:t>Gugu Agent operations playbook · 2026.07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2194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1">
                <a:solidFill>
                  <a:srgbClr val="1E7E65"/>
                </a:solidFill>
                <a:latin typeface="Microsoft YaHei"/>
              </a:rPr>
              <a:t>TASK SCRIPTS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8503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211B16"/>
                </a:solidFill>
                <a:latin typeface="Microsoft YaHei"/>
              </a:rPr>
              <a:t>首个任务脚本库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42415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5594F"/>
                </a:solidFill>
                <a:latin typeface="Microsoft YaHei"/>
              </a:rPr>
              <a:t>降低用户不知道问什么的成本，也降低运营解释成本。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63040"/>
            <a:ext cx="3337560" cy="411480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63040"/>
            <a:ext cx="64008" cy="4114800"/>
          </a:xfrm>
          <a:prstGeom prst="rect">
            <a:avLst/>
          </a:prstGeom>
          <a:solidFill>
            <a:srgbClr val="1E7E65"/>
          </a:solidFill>
          <a:ln w="10160">
            <a:solidFill>
              <a:srgbClr val="1E7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627632"/>
            <a:ext cx="2953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脚本 1：读项目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39112"/>
            <a:ext cx="2953512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提示词：请先不要改代码，帮我读这个项目，告诉我如何启动、主要模块、最可能出问题的地方。
验收：输出可执行启动步骤。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63040"/>
            <a:ext cx="3337560" cy="411480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463040"/>
            <a:ext cx="64008" cy="4114800"/>
          </a:xfrm>
          <a:prstGeom prst="rect">
            <a:avLst/>
          </a:prstGeom>
          <a:solidFill>
            <a:srgbClr val="265D9B"/>
          </a:solidFill>
          <a:ln w="10160">
            <a:solidFill>
              <a:srgbClr val="265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7" y="1627632"/>
            <a:ext cx="2953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脚本 2：修报错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2039112"/>
            <a:ext cx="2953512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提示词：这是报错截图/日志，请定位原因，先说明方案，再征求确认后修改。
验收：用户看到原因、修改点和验证命令。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463040"/>
            <a:ext cx="3337560" cy="411480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79" y="1463040"/>
            <a:ext cx="64008" cy="4114800"/>
          </a:xfrm>
          <a:prstGeom prst="rect">
            <a:avLst/>
          </a:prstGeom>
          <a:solidFill>
            <a:srgbClr val="B05E2F"/>
          </a:solidFill>
          <a:ln w="10160">
            <a:solidFill>
              <a:srgbClr val="B05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5048" y="1627632"/>
            <a:ext cx="2953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脚本 3：整理资料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2039112"/>
            <a:ext cx="2953512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提示词：读取这个文件夹，把核心信息整理成给老板看的摘要和行动项。
验收：输出能复制到汇报文档。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6766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978676"/>
                </a:solidFill>
                <a:latin typeface="Microsoft YaHei"/>
              </a:rPr>
              <a:t>Gugu Agent operations playbook · 2026.07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2194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1">
                <a:solidFill>
                  <a:srgbClr val="1E7E65"/>
                </a:solidFill>
                <a:latin typeface="Microsoft YaHei"/>
              </a:rPr>
              <a:t>TRUST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8503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211B16"/>
                </a:solidFill>
                <a:latin typeface="Microsoft YaHei"/>
              </a:rPr>
              <a:t>下载与安装信任方案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42415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5594F"/>
                </a:solidFill>
                <a:latin typeface="Microsoft YaHei"/>
              </a:rPr>
              <a:t>对桌面产品来说，安装信任就是转化的一部分。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337560" cy="425196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64008" cy="4251960"/>
          </a:xfrm>
          <a:prstGeom prst="rect">
            <a:avLst/>
          </a:prstGeom>
          <a:solidFill>
            <a:srgbClr val="1E7E65"/>
          </a:solidFill>
          <a:ln w="10160">
            <a:solidFill>
              <a:srgbClr val="1E7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581912"/>
            <a:ext cx="2953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官网必须解释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993392"/>
            <a:ext cx="2953512" cy="3611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1. 当前版本号和发布时间
2. Windows/macOS 安装方式
3. 浏览器拦截如何处理
4. 安装包 SHA256
5. 常见安全提示截图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337560" cy="425196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417320"/>
            <a:ext cx="64008" cy="4251960"/>
          </a:xfrm>
          <a:prstGeom prst="rect">
            <a:avLst/>
          </a:prstGeom>
          <a:solidFill>
            <a:srgbClr val="265D9B"/>
          </a:solidFill>
          <a:ln w="10160">
            <a:solidFill>
              <a:srgbClr val="265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7" y="1581912"/>
            <a:ext cx="2953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客户端必须兜底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1993392"/>
            <a:ext cx="2953512" cy="3611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1. 更新失败给完整安装包
2. 显示当前版本/更新源
3. 一键复制诊断信息
4. Sidecar/RTK/MCP 状态可见
5. 不让小白读技术日志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417320"/>
            <a:ext cx="3337560" cy="425196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79" y="1417320"/>
            <a:ext cx="64008" cy="4251960"/>
          </a:xfrm>
          <a:prstGeom prst="rect">
            <a:avLst/>
          </a:prstGeom>
          <a:solidFill>
            <a:srgbClr val="B05E2F"/>
          </a:solidFill>
          <a:ln w="10160">
            <a:solidFill>
              <a:srgbClr val="B05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5048" y="1581912"/>
            <a:ext cx="2953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运营必须跟进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1993392"/>
            <a:ext cx="2953512" cy="3611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每个安装失败截图都归档；超过 3 次出现就进入 FAQ；超过 5 次出现就进入产品修复。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6766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978676"/>
                </a:solidFill>
                <a:latin typeface="Microsoft YaHei"/>
              </a:rPr>
              <a:t>Gugu Agent operations playbook · 2026.07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2194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1">
                <a:solidFill>
                  <a:srgbClr val="1E7E65"/>
                </a:solidFill>
                <a:latin typeface="Microsoft YaHei"/>
              </a:rPr>
              <a:t>CONTENT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8503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211B16"/>
                </a:solidFill>
                <a:latin typeface="Microsoft YaHei"/>
              </a:rPr>
              <a:t>内容运营：4 个内容支柱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42415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5594F"/>
                </a:solidFill>
                <a:latin typeface="Microsoft YaHei"/>
              </a:rPr>
              <a:t>内容的任务不是热闹，而是让目标用户更快完成第一次成功。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2560320" cy="406908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64008" cy="4069080"/>
          </a:xfrm>
          <a:prstGeom prst="rect">
            <a:avLst/>
          </a:prstGeom>
          <a:solidFill>
            <a:srgbClr val="1E7E65"/>
          </a:solidFill>
          <a:ln w="10160">
            <a:solidFill>
              <a:srgbClr val="1E7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581912"/>
            <a:ext cx="21762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真实任务录屏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993392"/>
            <a:ext cx="2176272" cy="3429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修 bug、读项目、跑终端、查网页。
每条都展示输入、过程、结果。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1417320"/>
            <a:ext cx="2560320" cy="406908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20440" y="1417320"/>
            <a:ext cx="64008" cy="4069080"/>
          </a:xfrm>
          <a:prstGeom prst="rect">
            <a:avLst/>
          </a:prstGeom>
          <a:solidFill>
            <a:srgbClr val="265D9B"/>
          </a:solidFill>
          <a:ln w="10160">
            <a:solidFill>
              <a:srgbClr val="265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21608" y="1581912"/>
            <a:ext cx="21762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问题解决教程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21608" y="1993392"/>
            <a:ext cx="2176272" cy="3429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安装失败、模型配置、MCP、RTK、更新失败。
把客服问题变成内容。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417320"/>
            <a:ext cx="2560320" cy="406908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1417320"/>
            <a:ext cx="64008" cy="4069080"/>
          </a:xfrm>
          <a:prstGeom prst="rect">
            <a:avLst/>
          </a:prstGeom>
          <a:solidFill>
            <a:srgbClr val="B05E2F"/>
          </a:solidFill>
          <a:ln w="10160">
            <a:solidFill>
              <a:srgbClr val="B05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56248" y="1581912"/>
            <a:ext cx="21762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产品更新故事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6248" y="1993392"/>
            <a:ext cx="2176272" cy="3429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不要只列 changelog。
讲这次修复解决了哪个用户痛点。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20" y="1417320"/>
            <a:ext cx="2331720" cy="406908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89720" y="1417320"/>
            <a:ext cx="64008" cy="4069080"/>
          </a:xfrm>
          <a:prstGeom prst="rect">
            <a:avLst/>
          </a:prstGeom>
          <a:solidFill>
            <a:srgbClr val="6A539D"/>
          </a:solidFill>
          <a:ln w="10160">
            <a:solidFill>
              <a:srgbClr val="6A53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90888" y="1581912"/>
            <a:ext cx="19476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用户案例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90888" y="1993392"/>
            <a:ext cx="1947672" cy="3429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具体人群、具体任务、节省时间、愿意付费的原因。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6766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978676"/>
                </a:solidFill>
                <a:latin typeface="Microsoft YaHei"/>
              </a:rPr>
              <a:t>Gugu Agent operations playbook · 2026.07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2194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1">
                <a:solidFill>
                  <a:srgbClr val="1E7E65"/>
                </a:solidFill>
                <a:latin typeface="Microsoft YaHei"/>
              </a:rPr>
              <a:t>CALENDAR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8503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211B16"/>
                </a:solidFill>
                <a:latin typeface="Microsoft YaHei"/>
              </a:rPr>
              <a:t>4 周内容节奏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42415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5594F"/>
                </a:solidFill>
                <a:latin typeface="Microsoft YaHei"/>
              </a:rPr>
              <a:t>先用稳定节奏跑出素材库，再根据转化数据加码。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2331720" cy="338328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1901952"/>
            <a:ext cx="1920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1E7E65"/>
                </a:solidFill>
                <a:latin typeface="Microsoft YaHei"/>
              </a:rPr>
              <a:t>第 1 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3" y="2560320"/>
            <a:ext cx="182880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19" b="0">
                <a:solidFill>
                  <a:srgbClr val="65594F"/>
                </a:solidFill>
                <a:latin typeface="Microsoft YaHei"/>
              </a:rPr>
              <a:t>3 条安装/上手
2 条读项目案例
1 次用户访谈摘要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600200"/>
            <a:ext cx="2331720" cy="338328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67328" y="1901952"/>
            <a:ext cx="1920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265D9B"/>
                </a:solidFill>
                <a:latin typeface="Microsoft YaHei"/>
              </a:rPr>
              <a:t>第 2 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03904" y="2560320"/>
            <a:ext cx="182880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19" b="0">
                <a:solidFill>
                  <a:srgbClr val="65594F"/>
                </a:solidFill>
                <a:latin typeface="Microsoft YaHei"/>
              </a:rPr>
              <a:t>2 条修 bug 录屏
2 条 MCP/终端教程
1 条版本更新故事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79" y="1600200"/>
            <a:ext cx="2331720" cy="338328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6247" y="1901952"/>
            <a:ext cx="1920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B05E2F"/>
                </a:solidFill>
                <a:latin typeface="Microsoft YaHei"/>
              </a:rPr>
              <a:t>第 3 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2823" y="2560320"/>
            <a:ext cx="182880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19" b="0">
                <a:solidFill>
                  <a:srgbClr val="65594F"/>
                </a:solidFill>
                <a:latin typeface="Microsoft YaHei"/>
              </a:rPr>
              <a:t>2 条文件处理案例
2 条浏览器工作流
1 条付费用户故事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999" y="1600200"/>
            <a:ext cx="2331720" cy="338328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45167" y="1901952"/>
            <a:ext cx="1920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6A539D"/>
                </a:solidFill>
                <a:latin typeface="Microsoft YaHei"/>
              </a:rPr>
              <a:t>第 4 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81743" y="2560320"/>
            <a:ext cx="182880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19" b="0">
                <a:solidFill>
                  <a:srgbClr val="65594F"/>
                </a:solidFill>
                <a:latin typeface="Microsoft YaHei"/>
              </a:rPr>
              <a:t>复盘高转化内容
重拍最强案例
整理官网案例页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5349240"/>
            <a:ext cx="10744200" cy="64008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5349240"/>
            <a:ext cx="64008" cy="640080"/>
          </a:xfrm>
          <a:prstGeom prst="rect">
            <a:avLst/>
          </a:prstGeom>
          <a:solidFill>
            <a:srgbClr val="1E7E65"/>
          </a:solidFill>
          <a:ln w="10160">
            <a:solidFill>
              <a:srgbClr val="1E7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" y="5513831"/>
            <a:ext cx="1036015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发布渠道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5925312"/>
            <a:ext cx="10360152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官网案例页、GitHub/Gitee README、B 站/视频号/小红书、开发者社群、用户群公告。先复用同一素材，不为每个平台重做一套。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6766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978676"/>
                </a:solidFill>
                <a:latin typeface="Microsoft YaHei"/>
              </a:rPr>
              <a:t>Gugu Agent operations playbook · 2026.07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2194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1">
                <a:solidFill>
                  <a:srgbClr val="1E7E65"/>
                </a:solidFill>
                <a:latin typeface="Microsoft YaHei"/>
              </a:rPr>
              <a:t>COMMUNITY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8503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211B16"/>
                </a:solidFill>
                <a:latin typeface="Microsoft YaHei"/>
              </a:rPr>
              <a:t>社群与支持：把私聊问题变成公共资产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42415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5594F"/>
                </a:solidFill>
                <a:latin typeface="Microsoft YaHei"/>
              </a:rPr>
              <a:t>运营不要被一对一支持拖垮，重复问题必须沉淀。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337560" cy="406908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64008" cy="4069080"/>
          </a:xfrm>
          <a:prstGeom prst="rect">
            <a:avLst/>
          </a:prstGeom>
          <a:solidFill>
            <a:srgbClr val="1E7E65"/>
          </a:solidFill>
          <a:ln w="10160">
            <a:solidFill>
              <a:srgbClr val="1E7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581912"/>
            <a:ext cx="2953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用户群定位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993392"/>
            <a:ext cx="2953512" cy="3429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不是泛聊天群，而是：问题反馈、案例分享、版本通知、任务模板收集。
群规：问题尽量带截图、版本、系统。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337560" cy="406908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417320"/>
            <a:ext cx="64008" cy="4069080"/>
          </a:xfrm>
          <a:prstGeom prst="rect">
            <a:avLst/>
          </a:prstGeom>
          <a:solidFill>
            <a:srgbClr val="B05E2F"/>
          </a:solidFill>
          <a:ln w="10160">
            <a:solidFill>
              <a:srgbClr val="B05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7" y="1581912"/>
            <a:ext cx="2953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支持分层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1993392"/>
            <a:ext cx="2953512" cy="3429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P0：无法启动/无法更新/付费异常
P1：核心任务失败
P2：体验问题
P3：建议和集成需求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417320"/>
            <a:ext cx="3337560" cy="406908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79" y="1417320"/>
            <a:ext cx="64008" cy="4069080"/>
          </a:xfrm>
          <a:prstGeom prst="rect">
            <a:avLst/>
          </a:prstGeom>
          <a:solidFill>
            <a:srgbClr val="265D9B"/>
          </a:solidFill>
          <a:ln w="10160">
            <a:solidFill>
              <a:srgbClr val="265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5048" y="1581912"/>
            <a:ext cx="2953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沉淀机制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1993392"/>
            <a:ext cx="2953512" cy="3429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每天归档高频问题；每周更新 FAQ；每月把高频问题做成官网和产品内帮助。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6766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978676"/>
                </a:solidFill>
                <a:latin typeface="Microsoft YaHei"/>
              </a:rPr>
              <a:t>Gugu Agent operations playbook · 2026.07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2194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1">
                <a:solidFill>
                  <a:srgbClr val="1E7E65"/>
                </a:solidFill>
                <a:latin typeface="Microsoft YaHei"/>
              </a:rPr>
              <a:t>OUTBOUND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8503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211B16"/>
                </a:solidFill>
                <a:latin typeface="Microsoft YaHei"/>
              </a:rPr>
              <a:t>创始人式获客：每天稳定找人，而不是等自然增长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42415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5594F"/>
                </a:solidFill>
                <a:latin typeface="Microsoft YaHei"/>
              </a:rPr>
              <a:t>早期最重要的是精准、真实、可访谈。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337560" cy="425196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64008" cy="4251960"/>
          </a:xfrm>
          <a:prstGeom prst="rect">
            <a:avLst/>
          </a:prstGeom>
          <a:solidFill>
            <a:srgbClr val="1E7E65"/>
          </a:solidFill>
          <a:ln w="10160">
            <a:solidFill>
              <a:srgbClr val="1E7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581912"/>
            <a:ext cx="2953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线索来源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993392"/>
            <a:ext cx="2953512" cy="3611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GitHub/Gitee 活跃项目
AI 工具社群
独立开发者朋友圈
技术公众号评论区
已有用户推荐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337560" cy="425196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417320"/>
            <a:ext cx="64008" cy="4251960"/>
          </a:xfrm>
          <a:prstGeom prst="rect">
            <a:avLst/>
          </a:prstGeom>
          <a:solidFill>
            <a:srgbClr val="265D9B"/>
          </a:solidFill>
          <a:ln w="10160">
            <a:solidFill>
              <a:srgbClr val="265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7" y="1581912"/>
            <a:ext cx="2953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私信结构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1993392"/>
            <a:ext cx="2953512" cy="3611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1. 我看到你在做 X
2. Gugu 可以帮你完成 Y
3. 我想免费帮你跑一次真实任务
4. 只需要 30 分钟远程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417320"/>
            <a:ext cx="3337560" cy="425196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79" y="1417320"/>
            <a:ext cx="64008" cy="4251960"/>
          </a:xfrm>
          <a:prstGeom prst="rect">
            <a:avLst/>
          </a:prstGeom>
          <a:solidFill>
            <a:srgbClr val="B05E2F"/>
          </a:solidFill>
          <a:ln w="10160">
            <a:solidFill>
              <a:srgbClr val="B05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5048" y="1581912"/>
            <a:ext cx="2953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合格线索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1993392"/>
            <a:ext cx="2953512" cy="3611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有真实项目/任务；愿意远程试用；能接受早期产品；完成任务后愿意反馈或付费。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6766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978676"/>
                </a:solidFill>
                <a:latin typeface="Microsoft YaHei"/>
              </a:rPr>
              <a:t>Gugu Agent operations playbook · 2026.07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2194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1">
                <a:solidFill>
                  <a:srgbClr val="1E7E65"/>
                </a:solidFill>
                <a:latin typeface="Microsoft YaHei"/>
              </a:rPr>
              <a:t>REFERRAL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8503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211B16"/>
                </a:solidFill>
                <a:latin typeface="Microsoft YaHei"/>
              </a:rPr>
              <a:t>推荐与伙伴方案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42415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5594F"/>
                </a:solidFill>
                <a:latin typeface="Microsoft YaHei"/>
              </a:rPr>
              <a:t>不要一开始做复杂分销，先让满意用户带来相似用户。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63040"/>
            <a:ext cx="3337560" cy="406908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63040"/>
            <a:ext cx="64008" cy="4069080"/>
          </a:xfrm>
          <a:prstGeom prst="rect">
            <a:avLst/>
          </a:prstGeom>
          <a:solidFill>
            <a:srgbClr val="1E7E65"/>
          </a:solidFill>
          <a:ln w="10160">
            <a:solidFill>
              <a:srgbClr val="1E7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627632"/>
            <a:ext cx="2953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用户推荐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39112"/>
            <a:ext cx="2953512" cy="3429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推荐 1 位完成首次任务：双方获得额度。
推荐 1 位付费：推荐人获得 1 个月 Pro 或等值额度。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63040"/>
            <a:ext cx="3337560" cy="406908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463040"/>
            <a:ext cx="64008" cy="4069080"/>
          </a:xfrm>
          <a:prstGeom prst="rect">
            <a:avLst/>
          </a:prstGeom>
          <a:solidFill>
            <a:srgbClr val="265D9B"/>
          </a:solidFill>
          <a:ln w="10160">
            <a:solidFill>
              <a:srgbClr val="265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7" y="1627632"/>
            <a:ext cx="2953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自动化服务商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2039112"/>
            <a:ext cx="2953512" cy="3429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给工具玩家/顾问一套演示包：安装包、任务模板、报价建议、服务交付清单。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463040"/>
            <a:ext cx="3337560" cy="406908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79" y="1463040"/>
            <a:ext cx="64008" cy="4069080"/>
          </a:xfrm>
          <a:prstGeom prst="rect">
            <a:avLst/>
          </a:prstGeom>
          <a:solidFill>
            <a:srgbClr val="B05E2F"/>
          </a:solidFill>
          <a:ln w="10160">
            <a:solidFill>
              <a:srgbClr val="B05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5048" y="1627632"/>
            <a:ext cx="2953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内容伙伴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2039112"/>
            <a:ext cx="2953512" cy="3429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只找能做真实任务演示的人。
不买泛曝光；按有效激活或付费分成。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6766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978676"/>
                </a:solidFill>
                <a:latin typeface="Microsoft YaHei"/>
              </a:rPr>
              <a:t>Gugu Agent operations playbook · 2026.07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2194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1">
                <a:solidFill>
                  <a:srgbClr val="1E7E65"/>
                </a:solidFill>
                <a:latin typeface="Microsoft YaHei"/>
              </a:rPr>
              <a:t>CONVERSION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8503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211B16"/>
                </a:solidFill>
                <a:latin typeface="Microsoft YaHei"/>
              </a:rPr>
              <a:t>转化方案：把套餐和服务说清楚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42415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5594F"/>
                </a:solidFill>
                <a:latin typeface="Microsoft YaHei"/>
              </a:rPr>
              <a:t>用户付费不是因为功能多，而是因为任务成功且成本可预期。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337560" cy="425196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64008" cy="4251960"/>
          </a:xfrm>
          <a:prstGeom prst="rect">
            <a:avLst/>
          </a:prstGeom>
          <a:solidFill>
            <a:srgbClr val="1E7E65"/>
          </a:solidFill>
          <a:ln w="10160">
            <a:solidFill>
              <a:srgbClr val="1E7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581912"/>
            <a:ext cx="2953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Trial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993392"/>
            <a:ext cx="2953512" cy="3611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目标：完成首个任务。
限制：时间短、额度可控。
运营动作：第 2 天和第 6 天触达。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337560" cy="425196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417320"/>
            <a:ext cx="64008" cy="4251960"/>
          </a:xfrm>
          <a:prstGeom prst="rect">
            <a:avLst/>
          </a:prstGeom>
          <a:solidFill>
            <a:srgbClr val="265D9B"/>
          </a:solidFill>
          <a:ln w="10160">
            <a:solidFill>
              <a:srgbClr val="265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7" y="1581912"/>
            <a:ext cx="2953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Pro / Max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1993392"/>
            <a:ext cx="2953512" cy="3611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Pro：普通个人稳定使用。
Max：重度用户、更高额度、强模型和长任务。
必须有额度边界。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417320"/>
            <a:ext cx="3337560" cy="425196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79" y="1417320"/>
            <a:ext cx="64008" cy="4251960"/>
          </a:xfrm>
          <a:prstGeom prst="rect">
            <a:avLst/>
          </a:prstGeom>
          <a:solidFill>
            <a:srgbClr val="B05E2F"/>
          </a:solidFill>
          <a:ln w="10160">
            <a:solidFill>
              <a:srgbClr val="B05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5048" y="1581912"/>
            <a:ext cx="2953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服务包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1993392"/>
            <a:ext cx="2953512" cy="3611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早期可卖：工作流配置、MCP/IM 接入、团队上手培训。
服务包帮助赚钱，也帮助发现产品化场景。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6766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978676"/>
                </a:solidFill>
                <a:latin typeface="Microsoft YaHei"/>
              </a:rPr>
              <a:t>Gugu Agent operations playbook · 2026.07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2194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1">
                <a:solidFill>
                  <a:srgbClr val="1E7E65"/>
                </a:solidFill>
                <a:latin typeface="Microsoft YaHei"/>
              </a:rPr>
              <a:t>COST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8503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211B16"/>
                </a:solidFill>
                <a:latin typeface="Microsoft YaHei"/>
              </a:rPr>
              <a:t>日常成本控制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42415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5594F"/>
                </a:solidFill>
                <a:latin typeface="Microsoft YaHei"/>
              </a:rPr>
              <a:t>运营要和成本看板绑在一起，否则增长越快亏得越快。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337560" cy="406908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64008" cy="4069080"/>
          </a:xfrm>
          <a:prstGeom prst="rect">
            <a:avLst/>
          </a:prstGeom>
          <a:solidFill>
            <a:srgbClr val="1E7E65"/>
          </a:solidFill>
          <a:ln w="10160">
            <a:solidFill>
              <a:srgbClr val="1E7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581912"/>
            <a:ext cx="2953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获客成本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993392"/>
            <a:ext cx="2953512" cy="3429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每个渠道记录：线索数、激活数、付费数、花费时间。
没有激活的曝光不加码。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337560" cy="406908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417320"/>
            <a:ext cx="64008" cy="4069080"/>
          </a:xfrm>
          <a:prstGeom prst="rect">
            <a:avLst/>
          </a:prstGeom>
          <a:solidFill>
            <a:srgbClr val="BE4237"/>
          </a:solidFill>
          <a:ln w="10160">
            <a:solidFill>
              <a:srgbClr val="BE4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7" y="1581912"/>
            <a:ext cx="2953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模型成本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1993392"/>
            <a:ext cx="2953512" cy="3429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记录每个付费用户的模型消耗。
重度用户触发：升级 Max、购买额度、限制异常任务。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417320"/>
            <a:ext cx="3337560" cy="406908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79" y="1417320"/>
            <a:ext cx="64008" cy="4069080"/>
          </a:xfrm>
          <a:prstGeom prst="rect">
            <a:avLst/>
          </a:prstGeom>
          <a:solidFill>
            <a:srgbClr val="B05E2F"/>
          </a:solidFill>
          <a:ln w="10160">
            <a:solidFill>
              <a:srgbClr val="B05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5048" y="1581912"/>
            <a:ext cx="2953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支持成本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1993392"/>
            <a:ext cx="2953512" cy="3429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记录每类问题耗时。
同类问题每周超过 3 次，必须文档化；超过 5 次，必须产品化。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6766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978676"/>
                </a:solidFill>
                <a:latin typeface="Microsoft YaHei"/>
              </a:rPr>
              <a:t>Gugu Agent operations playbook · 2026.07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2194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1">
                <a:solidFill>
                  <a:srgbClr val="1E7E65"/>
                </a:solidFill>
                <a:latin typeface="Microsoft YaHei"/>
              </a:rPr>
              <a:t>CADENCE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8503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211B16"/>
                </a:solidFill>
                <a:latin typeface="Microsoft YaHei"/>
              </a:rPr>
              <a:t>每周运营节奏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42415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5594F"/>
                </a:solidFill>
                <a:latin typeface="Microsoft YaHei"/>
              </a:rPr>
              <a:t>固定节奏比临时热情更重要。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2514600" cy="416052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64008" cy="4160520"/>
          </a:xfrm>
          <a:prstGeom prst="rect">
            <a:avLst/>
          </a:prstGeom>
          <a:solidFill>
            <a:srgbClr val="1E7E65"/>
          </a:solidFill>
          <a:ln w="10160">
            <a:solidFill>
              <a:srgbClr val="1E7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581912"/>
            <a:ext cx="213055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周一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993392"/>
            <a:ext cx="2130552" cy="3520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看上周数据
定本周目标
选 3 个最大阻塞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417320"/>
            <a:ext cx="2514600" cy="416052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9000" y="1417320"/>
            <a:ext cx="64008" cy="4160520"/>
          </a:xfrm>
          <a:prstGeom prst="rect">
            <a:avLst/>
          </a:prstGeom>
          <a:solidFill>
            <a:srgbClr val="265D9B"/>
          </a:solidFill>
          <a:ln w="10160">
            <a:solidFill>
              <a:srgbClr val="265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0168" y="1581912"/>
            <a:ext cx="213055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周二-周四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0168" y="1993392"/>
            <a:ext cx="2130552" cy="3520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用户访谈
内容发布
onboarding
产品修复跟进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417320"/>
            <a:ext cx="2514600" cy="416052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417320"/>
            <a:ext cx="64008" cy="4160520"/>
          </a:xfrm>
          <a:prstGeom prst="rect">
            <a:avLst/>
          </a:prstGeom>
          <a:solidFill>
            <a:srgbClr val="B05E2F"/>
          </a:solidFill>
          <a:ln w="10160">
            <a:solidFill>
              <a:srgbClr val="B05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1581912"/>
            <a:ext cx="213055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周五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1993392"/>
            <a:ext cx="2130552" cy="3520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复盘渠道
复盘成本
整理 FAQ
决定下周实验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15400" y="1417320"/>
            <a:ext cx="2514600" cy="416052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5400" y="1417320"/>
            <a:ext cx="64008" cy="4160520"/>
          </a:xfrm>
          <a:prstGeom prst="rect">
            <a:avLst/>
          </a:prstGeom>
          <a:solidFill>
            <a:srgbClr val="6A539D"/>
          </a:solidFill>
          <a:ln w="10160">
            <a:solidFill>
              <a:srgbClr val="6A53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16568" y="1581912"/>
            <a:ext cx="213055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每周产出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16568" y="1993392"/>
            <a:ext cx="2130552" cy="3520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1 页数据看板
5 个用户反馈
2 个案例素材
1 个产品优先级列表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6766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978676"/>
                </a:solidFill>
                <a:latin typeface="Microsoft YaHei"/>
              </a:rPr>
              <a:t>Gugu Agent operations playbook · 2026.07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2194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1">
                <a:solidFill>
                  <a:srgbClr val="1E7E65"/>
                </a:solidFill>
                <a:latin typeface="Microsoft YaHei"/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8503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211B16"/>
                </a:solidFill>
                <a:latin typeface="Microsoft YaHei"/>
              </a:rPr>
              <a:t>30/60/90 天执行板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42415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5594F"/>
                </a:solidFill>
                <a:latin typeface="Microsoft YaHei"/>
              </a:rPr>
              <a:t>把运营从想法变成可验收动作。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337560" cy="425196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64008" cy="4251960"/>
          </a:xfrm>
          <a:prstGeom prst="rect">
            <a:avLst/>
          </a:prstGeom>
          <a:solidFill>
            <a:srgbClr val="1E7E65"/>
          </a:solidFill>
          <a:ln w="10160">
            <a:solidFill>
              <a:srgbClr val="1E7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581912"/>
            <a:ext cx="2953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0-30 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993392"/>
            <a:ext cx="2953512" cy="3611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完成 30 个深度用户
官网补安全/FAQ/案例
上线 3 个任务模板
建立反馈库和指标看板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337560" cy="425196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417320"/>
            <a:ext cx="64008" cy="4251960"/>
          </a:xfrm>
          <a:prstGeom prst="rect">
            <a:avLst/>
          </a:prstGeom>
          <a:solidFill>
            <a:srgbClr val="265D9B"/>
          </a:solidFill>
          <a:ln w="10160">
            <a:solidFill>
              <a:srgbClr val="265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7" y="1581912"/>
            <a:ext cx="2953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31-60 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1993392"/>
            <a:ext cx="2953512" cy="3611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持续发布案例内容
试跑推荐机制
验证 Pro/Max 转化
整理服务包报价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417320"/>
            <a:ext cx="3337560" cy="425196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5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79" y="1417320"/>
            <a:ext cx="64008" cy="4251960"/>
          </a:xfrm>
          <a:prstGeom prst="rect">
            <a:avLst/>
          </a:prstGeom>
          <a:solidFill>
            <a:srgbClr val="B05E2F"/>
          </a:solidFill>
          <a:ln w="10160">
            <a:solidFill>
              <a:srgbClr val="B05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5048" y="1581912"/>
            <a:ext cx="2953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>
                <a:solidFill>
                  <a:srgbClr val="211B16"/>
                </a:solidFill>
                <a:latin typeface="Microsoft YaHei"/>
              </a:rPr>
              <a:t>61-90 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1993392"/>
            <a:ext cx="2953512" cy="3611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594F"/>
                </a:solidFill>
                <a:latin typeface="Microsoft YaHei"/>
              </a:rPr>
              <a:t>小额定向投放
推出 Team 试卖
复盘渠道 ROI
决定扩大或继续打磨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6766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978676"/>
                </a:solidFill>
                <a:latin typeface="Microsoft YaHei"/>
              </a:rPr>
              <a:t>Gugu Agent operations playbook · 2026.07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