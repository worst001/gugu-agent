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 w="10160">
            <a:solidFill>
              <a:srgbClr val="F8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11B16"/>
          </a:solidFill>
          <a:ln w="10160">
            <a:solidFill>
              <a:srgbClr val="211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713232"/>
            <a:ext cx="1508760" cy="310896"/>
          </a:xfrm>
          <a:prstGeom prst="roundRect">
            <a:avLst/>
          </a:prstGeom>
          <a:solidFill>
            <a:srgbClr val="DFF0E8"/>
          </a:solidFill>
          <a:ln w="10160">
            <a:solidFill>
              <a:srgbClr val="DF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C7A63"/>
                </a:solidFill>
                <a:latin typeface="Microsoft YaHei"/>
              </a:rPr>
              <a:t>内部经营讨论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7680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211B16"/>
                </a:solidFill>
                <a:latin typeface="Microsoft YaHei"/>
              </a:rPr>
              <a:t>Gugu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11B16"/>
                </a:solidFill>
                <a:latin typeface="Microsoft YaHei"/>
              </a:rPr>
              <a:t>运营、营销与商业化阶段判断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6309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75B50"/>
                </a:solidFill>
                <a:latin typeface="Microsoft YaHei"/>
              </a:rPr>
              <a:t>从“产品能用”走向“稳定获客、稳定留存、稳定盈利”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143000"/>
            <a:ext cx="3566160" cy="29718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143000"/>
            <a:ext cx="73152" cy="2971800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325880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一句话结论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764792"/>
            <a:ext cx="3154679" cy="2258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当前不是大规模买量阶段，而是产品化内测到早期商业验证阶段。
增长重心应放在：小范围高强度运营、真实任务案例、激活漏斗、单位经济模型。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17720"/>
            <a:ext cx="24688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823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阶段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01768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C7A63"/>
                </a:solidFill>
                <a:latin typeface="Microsoft YaHei"/>
              </a:rPr>
              <a:t>早期商业验证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2239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先验证留存与付费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4617720"/>
            <a:ext cx="24688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47823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打法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5001768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35C9A"/>
                </a:solidFill>
                <a:latin typeface="Microsoft YaHei"/>
              </a:rPr>
              <a:t>PLG + 手动运营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542239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产品驱动，创始人下场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617720"/>
            <a:ext cx="24688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7823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底线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5001768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AE5D2D"/>
                </a:solidFill>
                <a:latin typeface="Microsoft YaHei"/>
              </a:rPr>
              <a:t>不盲目投放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542239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信任链路先打稳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阶段判断：已经产品化，但尚未到规模化投放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判断依据来自产品能力、发布历史、用户信任链路和商业闭环。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057400" cy="822960"/>
          </a:xfrm>
          <a:prstGeom prst="roundRect">
            <a:avLst/>
          </a:prstGeom>
          <a:solidFill>
            <a:srgbClr val="E6DACA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Demo / 原型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240280"/>
            <a:ext cx="457200" cy="0"/>
          </a:xfrm>
          <a:prstGeom prst="line">
            <a:avLst/>
          </a:prstGeom>
          <a:ln w="25400">
            <a:solidFill>
              <a:srgbClr val="E6D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828800"/>
            <a:ext cx="2057400" cy="822960"/>
          </a:xfrm>
          <a:prstGeom prst="round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574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BF3"/>
                </a:solidFill>
                <a:latin typeface="Microsoft YaHei"/>
              </a:rPr>
              <a:t>产品化内测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2240280"/>
            <a:ext cx="457200" cy="0"/>
          </a:xfrm>
          <a:prstGeom prst="line">
            <a:avLst/>
          </a:prstGeom>
          <a:ln w="25400">
            <a:solidFill>
              <a:srgbClr val="E6D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828800"/>
            <a:ext cx="2057400" cy="822960"/>
          </a:xfrm>
          <a:prstGeom prst="roundRect">
            <a:avLst/>
          </a:prstGeom>
          <a:solidFill>
            <a:srgbClr val="E6DACA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PMF 验证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2240280"/>
            <a:ext cx="457200" cy="0"/>
          </a:xfrm>
          <a:prstGeom prst="line">
            <a:avLst/>
          </a:prstGeom>
          <a:ln w="25400">
            <a:solidFill>
              <a:srgbClr val="E6D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1828800"/>
            <a:ext cx="2057400" cy="822960"/>
          </a:xfrm>
          <a:prstGeom prst="roundRect">
            <a:avLst/>
          </a:prstGeom>
          <a:solidFill>
            <a:srgbClr val="E6DACA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规模化增长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880360"/>
            <a:ext cx="1920240" cy="310896"/>
          </a:xfrm>
          <a:prstGeom prst="roundRect">
            <a:avLst/>
          </a:prstGeom>
          <a:solidFill>
            <a:srgbClr val="F6E5D4"/>
          </a:solidFill>
          <a:ln w="10160">
            <a:solidFill>
              <a:srgbClr val="F6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AE5D2D"/>
                </a:solidFill>
                <a:latin typeface="Microsoft YaHei"/>
              </a:rPr>
              <a:t>当前位置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3291840" cy="14173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03320"/>
            <a:ext cx="73152" cy="141732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862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已经具备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25112"/>
            <a:ext cx="288036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桌面端、托管模型、MCP/插件、浏览器/终端工作台、订阅和热更新发布链路。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03320"/>
            <a:ext cx="3291840" cy="14173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703320"/>
            <a:ext cx="73152" cy="1417320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8862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仍需证明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25112"/>
            <a:ext cx="288036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用户首次成功、次日留存、试用转付费、模型成本覆盖、安装更新稳定性。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03320"/>
            <a:ext cx="3017520" cy="14173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703320"/>
            <a:ext cx="73152" cy="1417320"/>
          </a:xfrm>
          <a:prstGeom prst="rect">
            <a:avLst/>
          </a:prstGeom>
          <a:solidFill>
            <a:srgbClr val="235C9A"/>
          </a:solidFill>
          <a:ln w="10160">
            <a:solidFill>
              <a:srgbClr val="23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886200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阶段目标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25112"/>
            <a:ext cx="26060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找到一个窄人群和一组高频任务，形成可重复激活和付费。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当前资产与短板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营销不是先把声音做大，而是先把阻塞转化的关键环节打稳。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30352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73152" cy="406908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91639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优势资产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30552"/>
            <a:ext cx="489204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1. 真实桌面 Agent，不是单纯聊天壳
2. Gugu Managed 降低模型/API/OCR门槛
3. 浏览器、终端、文件、IM、MCP 已形成工作台雏形
4. 高频发布能力和问题闭环速度已经建立
5. 已有试用、激活码、官网、发布链路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0690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4069080"/>
          </a:xfrm>
          <a:prstGeom prst="rect">
            <a:avLst/>
          </a:prstGeom>
          <a:solidFill>
            <a:srgbClr val="BF4137"/>
          </a:solidFill>
          <a:ln w="10160">
            <a:solidFill>
              <a:srgbClr val="BF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39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商业化短板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30552"/>
            <a:ext cx="484632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1. 安装、下载、热更新、签名仍会影响信任
2. 普通用户缺少“第一件事怎么做”的引导
3. 付费路径和用量成本边界需要更清楚
4. 目标人群太宽时，内容和转化都会变虚
5. 支持问题需要产品化，否则运营会被拖垮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先打一个窄人群：开发者与 AI 重度用户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这批用户反馈准确、容错更高、传播效率也更接近产品真实价值。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33375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333756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主攻 ICP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3017520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独立开发者 / 小团队程序员 / AI 工具重度用户
核心痛点：项目复杂、上下文长、工具多、报错难排、需要能跑终端和改文件。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33375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3337560"/>
          </a:xfrm>
          <a:prstGeom prst="rect">
            <a:avLst/>
          </a:prstGeom>
          <a:solidFill>
            <a:srgbClr val="235C9A"/>
          </a:solidFill>
          <a:ln w="10160">
            <a:solidFill>
              <a:srgbClr val="23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第二 ICP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30552"/>
            <a:ext cx="3017520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自动化服务商 / AI 工具玩家
核心痛点：要把 Agent 能力包装成交付方案，需要 MCP、插件、技能、模型配置。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429000" cy="33375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73152" cy="3337560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暂不泛化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30552"/>
            <a:ext cx="3017520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不要一开始讲“所有人都能用”。
泛人群会让产品介绍、案例、定价、支持全部失焦。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440680"/>
            <a:ext cx="2560320" cy="310896"/>
          </a:xfrm>
          <a:prstGeom prst="roundRect">
            <a:avLst/>
          </a:prstGeom>
          <a:solidFill>
            <a:srgbClr val="DFF0E8"/>
          </a:solidFill>
          <a:ln w="10160">
            <a:solidFill>
              <a:srgbClr val="DF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C7A63"/>
                </a:solidFill>
                <a:latin typeface="Microsoft YaHei"/>
              </a:rPr>
              <a:t>优先场景：读项目 / 修 bug / 跑终端 / 查资料 / 交付报告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5440680"/>
            <a:ext cx="2331720" cy="310896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35C9A"/>
                </a:solidFill>
                <a:latin typeface="Microsoft YaHei"/>
              </a:rPr>
              <a:t>核心承诺：装上就能开始干活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440680"/>
            <a:ext cx="2194560" cy="310896"/>
          </a:xfrm>
          <a:prstGeom prst="roundRect">
            <a:avLst/>
          </a:prstGeom>
          <a:solidFill>
            <a:srgbClr val="F6E5D4"/>
          </a:solidFill>
          <a:ln w="10160">
            <a:solidFill>
              <a:srgbClr val="F6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AE5D2D"/>
                </a:solidFill>
                <a:latin typeface="Microsoft YaHei"/>
              </a:rPr>
              <a:t>边界：不吹完全自主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定位：不是聊天机器人，是桌面 Agent 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营销话术要从功能清单转成清晰场景和可信承诺。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834640" cy="3291840"/>
          </a:xfrm>
          <a:prstGeom prst="roundRect">
            <a:avLst/>
          </a:prstGeom>
          <a:solidFill>
            <a:srgbClr val="F8DFDA"/>
          </a:solidFill>
          <a:ln w="10160">
            <a:solidFill>
              <a:srgbClr val="F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BF4137"/>
                </a:solidFill>
                <a:latin typeface="Microsoft YaHei"/>
              </a:rPr>
              <a:t>不要这样说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675B50"/>
                </a:solidFill>
                <a:latin typeface="Microsoft YaHei"/>
              </a:defRPr>
            </a:pPr>
            <a:r>
              <a:t>又一个 AI 助手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675B50"/>
                </a:solidFill>
                <a:latin typeface="Microsoft YaHei"/>
              </a:defRPr>
            </a:pPr>
            <a:r>
              <a:t>全自动替你工作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675B50"/>
                </a:solidFill>
                <a:latin typeface="Microsoft YaHei"/>
              </a:defRPr>
            </a:pPr>
            <a:r>
              <a:t>人人都能用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00">
                <a:solidFill>
                  <a:srgbClr val="675B50"/>
                </a:solidFill>
                <a:latin typeface="Microsoft YaHei"/>
              </a:defRPr>
            </a:pPr>
            <a:r>
              <a:t>无限强大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3566160" cy="32918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C7A63"/>
                </a:solidFill>
                <a:latin typeface="Microsoft YaHei"/>
              </a:rPr>
              <a:t>建议主张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87168"/>
            <a:ext cx="2743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11B16"/>
                </a:solidFill>
                <a:latin typeface="Microsoft YaHei"/>
              </a:rPr>
              <a:t>可交付、可控、能干活的桌面 Agent 工作台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00200"/>
            <a:ext cx="2971800" cy="3291840"/>
          </a:xfrm>
          <a:prstGeom prst="roundRect">
            <a:avLst/>
          </a:prstGeom>
          <a:solidFill>
            <a:srgbClr val="DFF0E8"/>
          </a:solidFill>
          <a:ln w="10160">
            <a:solidFill>
              <a:srgbClr val="DF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82880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C7A63"/>
                </a:solidFill>
                <a:latin typeface="Microsoft YaHei"/>
              </a:rPr>
              <a:t>三个价值锚点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87168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250">
                <a:solidFill>
                  <a:srgbClr val="211B16"/>
                </a:solidFill>
                <a:latin typeface="Microsoft YaHei"/>
              </a:defRPr>
            </a:pPr>
            <a:r>
              <a:t>免 API Key 起步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50">
                <a:solidFill>
                  <a:srgbClr val="211B16"/>
                </a:solidFill>
                <a:latin typeface="Microsoft YaHei"/>
              </a:defRPr>
            </a:pPr>
            <a:r>
              <a:t>过程透明可控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50">
                <a:solidFill>
                  <a:srgbClr val="211B16"/>
                </a:solidFill>
                <a:latin typeface="Microsoft YaHei"/>
              </a:defRPr>
            </a:pPr>
            <a:r>
              <a:t>高手可扩展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GROWTH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增长入口：围绕“第一次成功任务”设计漏斗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激活事件比下载量更重要，先盯住用户第一次获得真实价值。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下载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3230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官网 / 内容 / 推荐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2395728"/>
            <a:ext cx="301753" cy="0"/>
          </a:xfrm>
          <a:prstGeom prst="line">
            <a:avLst/>
          </a:prstGeom>
          <a:ln w="27940">
            <a:solidFill>
              <a:srgbClr val="AE5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安装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43230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安全说明 + 完整安装包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395728"/>
            <a:ext cx="301752" cy="0"/>
          </a:xfrm>
          <a:prstGeom prst="line">
            <a:avLst/>
          </a:prstGeom>
          <a:ln w="27940">
            <a:solidFill>
              <a:srgbClr val="AE5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首个任务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243230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10 分钟内完成真实工作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4304" y="2395728"/>
            <a:ext cx="301752" cy="0"/>
          </a:xfrm>
          <a:prstGeom prst="line">
            <a:avLst/>
          </a:prstGeom>
          <a:ln w="27940">
            <a:solidFill>
              <a:srgbClr val="AE5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43230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D1 / D7 回来继续用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2016" y="2395728"/>
            <a:ext cx="301751" cy="0"/>
          </a:xfrm>
          <a:prstGeom prst="line">
            <a:avLst/>
          </a:prstGeom>
          <a:ln w="27940">
            <a:solidFill>
              <a:srgbClr val="AE5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828800"/>
            <a:ext cx="1874519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19933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付费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432304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试用转 Pro / 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005072"/>
            <a:ext cx="22402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169663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核心激活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38912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C7A63"/>
                </a:solidFill>
                <a:latin typeface="Microsoft YaHei"/>
              </a:rPr>
              <a:t>10 分钟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80974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完成 1 个真实任务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005072"/>
            <a:ext cx="22402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4169663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留存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438912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35C9A"/>
                </a:solidFill>
                <a:latin typeface="Microsoft YaHei"/>
              </a:rPr>
              <a:t>D1 / D7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80974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是否回来继续用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005072"/>
            <a:ext cx="22402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169663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变现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38912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AE5D2D"/>
                </a:solidFill>
                <a:latin typeface="Microsoft YaHei"/>
              </a:rPr>
              <a:t>试用转付费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480974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是否愿意为额度付费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4005072"/>
            <a:ext cx="2240280" cy="11430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42248" y="4169663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675B50"/>
                </a:solidFill>
                <a:latin typeface="Microsoft YaHei"/>
              </a:rPr>
              <a:t>成本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438912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BF4137"/>
                </a:solidFill>
                <a:latin typeface="Microsoft YaHei"/>
              </a:rPr>
              <a:t>毛利/用户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480974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模型成本是否可控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运营打法：先做小范围高强度运营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早期增长重点不是“曝光”，而是把 30-50 个高质量用户服务到成功。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39319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93192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1. 创始人式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2926079" cy="3218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每天找 3-5 个目标用户远程安装，现场看他如何完成第一个任务。
每个失败点都进入“转化阻塞清单”。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39319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3931920"/>
          </a:xfrm>
          <a:prstGeom prst="rect">
            <a:avLst/>
          </a:prstGeom>
          <a:solidFill>
            <a:srgbClr val="235C9A"/>
          </a:solidFill>
          <a:ln w="10160">
            <a:solidFill>
              <a:srgbClr val="23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2. 真实任务内容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39112"/>
            <a:ext cx="2926079" cy="3218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少做功能介绍，多做真实录屏：修 bug、读项目、查资料、整理文件、跑终端。
内容只服务一个目标：让目标用户知道第一件事怎么做。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393192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73152" cy="3931920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3. 信任型社区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39112"/>
            <a:ext cx="2926079" cy="3218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公开 changelog、常见问题、安装安全说明、已知问题和反馈入口。
让用户知道：出问题能找到人，问题会被修。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成本控制：别让增长把毛利吃掉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AI Agent 的成本不只在广告，还在模型推理、支持和发布稳定性。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02336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148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获客成本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2148839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先用手动运营、案例内容、社群推荐。
暂缓大规模广告、PR、泛流量达人。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6032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73152" cy="4023360"/>
          </a:xfrm>
          <a:prstGeom prst="rect">
            <a:avLst/>
          </a:prstGeom>
          <a:solidFill>
            <a:srgbClr val="235C9A"/>
          </a:solidFill>
          <a:ln w="10160">
            <a:solidFill>
              <a:srgbClr val="23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00200"/>
            <a:ext cx="2148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模型成本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39112"/>
            <a:ext cx="2148839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普通任务走便宜模型；复杂任务才走强模型。
套餐必须有额度、限流和加量包。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6032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4023360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2148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支持成本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39112"/>
            <a:ext cx="2148839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一键诊断日志、安装 FAQ、更新失败兜底、RTK/MCP 状态页。
把重复客服变成产品能力。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33172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73152" cy="4023360"/>
          </a:xfrm>
          <a:prstGeom prst="rect">
            <a:avLst/>
          </a:prstGeom>
          <a:solidFill>
            <a:srgbClr val="BF4137"/>
          </a:solidFill>
          <a:ln w="10160">
            <a:solidFill>
              <a:srgbClr val="BF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600200"/>
            <a:ext cx="1920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发布成本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39112"/>
            <a:ext cx="1920239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发布脚本、冒烟清单、官网/OSS/latest.json 联动校验。
发布越稳，营销越敢推。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盈利模型：订阅 + 用量额度 + 高阶服务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不要做低价无限用，托管模型下必须保护单位经济模型。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023360"/>
            <a:ext cx="1737360" cy="1051560"/>
          </a:xfrm>
          <a:prstGeom prst="roundRect">
            <a:avLst/>
          </a:prstGeom>
          <a:solidFill>
            <a:srgbClr val="DFF0E8"/>
          </a:solidFill>
          <a:ln w="10160">
            <a:solidFill>
              <a:srgbClr val="DF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418795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C7A63"/>
                </a:solidFill>
                <a:latin typeface="Microsoft YaHei"/>
              </a:rPr>
              <a:t>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4544568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211B16"/>
                </a:solidFill>
                <a:latin typeface="Microsoft YaHei"/>
              </a:rPr>
              <a:t>7 天试用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4910328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675B50"/>
                </a:solidFill>
                <a:latin typeface="Microsoft YaHei"/>
              </a:rPr>
              <a:t>验证首次成功任务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3840480"/>
            <a:ext cx="1737360" cy="1234439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400507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35C9A"/>
                </a:solidFill>
                <a:latin typeface="Microsoft YaHei"/>
              </a:rP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4361688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211B16"/>
                </a:solidFill>
                <a:latin typeface="Microsoft YaHei"/>
              </a:rPr>
              <a:t>个人基础额度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4727448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675B50"/>
                </a:solidFill>
                <a:latin typeface="Microsoft YaHei"/>
              </a:rPr>
              <a:t>适合普通开发者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3657600"/>
            <a:ext cx="1737360" cy="1417319"/>
          </a:xfrm>
          <a:prstGeom prst="roundRect">
            <a:avLst/>
          </a:prstGeom>
          <a:solidFill>
            <a:srgbClr val="F6E5D4"/>
          </a:solidFill>
          <a:ln w="10160">
            <a:solidFill>
              <a:srgbClr val="F6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3822191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AE5D2D"/>
                </a:solidFill>
                <a:latin typeface="Microsoft YaHei"/>
              </a:rPr>
              <a:t>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178808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211B16"/>
                </a:solidFill>
                <a:latin typeface="Microsoft YaHei"/>
              </a:rPr>
              <a:t>更高额度 + 强模型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544568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675B50"/>
                </a:solidFill>
                <a:latin typeface="Microsoft YaHei"/>
              </a:rPr>
              <a:t>适合重度用户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3474720"/>
            <a:ext cx="1737360" cy="1600200"/>
          </a:xfrm>
          <a:prstGeom prst="roundRect">
            <a:avLst/>
          </a:prstGeom>
          <a:solidFill>
            <a:srgbClr val="F8DFDA"/>
          </a:solidFill>
          <a:ln w="10160">
            <a:solidFill>
              <a:srgbClr val="F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2" y="363931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BF4137"/>
                </a:solidFill>
                <a:latin typeface="Microsoft YaHe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3995928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211B16"/>
                </a:solidFill>
                <a:latin typeface="Microsoft YaHei"/>
              </a:rPr>
              <a:t>多席位 + 共享额度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4361688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675B50"/>
                </a:solidFill>
                <a:latin typeface="Microsoft YaHei"/>
              </a:rPr>
              <a:t>适合小团队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3200400"/>
            <a:ext cx="1737360" cy="1874519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FF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336499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11B16"/>
                </a:solidFill>
                <a:latin typeface="Microsoft YaHei"/>
              </a:rPr>
              <a:t>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3721608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211B16"/>
                </a:solidFill>
                <a:latin typeface="Microsoft YaHei"/>
              </a:rPr>
              <a:t>工作流配置服务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4087368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675B50"/>
                </a:solidFill>
                <a:latin typeface="Microsoft YaHei"/>
              </a:rPr>
              <a:t>早期现金流与需求发现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40680"/>
            <a:ext cx="10835640" cy="713232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5440680"/>
            <a:ext cx="73152" cy="713232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235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定价原则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062472"/>
            <a:ext cx="104241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基础订阅负责稳定收入；用量包覆盖边际模型成本；实施服务帮助早期拿现金流并发现可产品化场景。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90 天路线图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用三个月验证：目标用户、激活、留存、付费和毛利。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15468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1" y="1828800"/>
            <a:ext cx="1097280" cy="310896"/>
          </a:xfrm>
          <a:prstGeom prst="roundRect">
            <a:avLst/>
          </a:prstGeom>
          <a:solidFill>
            <a:srgbClr val="DFF0E8"/>
          </a:solidFill>
          <a:ln w="10160">
            <a:solidFill>
              <a:srgbClr val="DF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C7A63"/>
                </a:solidFill>
                <a:latin typeface="Microsoft YaHei"/>
              </a:rPr>
              <a:t>0-30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33172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打稳信任和激活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71800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75B50"/>
                </a:solidFill>
                <a:latin typeface="Microsoft YaHei"/>
              </a:rPr>
              <a:t>30 个深度用户
5 个真实案例录屏
安装/更新/安全说明补齐
首次任务成功率埋点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600200"/>
            <a:ext cx="315468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82312" y="1828800"/>
            <a:ext cx="1097280" cy="310896"/>
          </a:xfrm>
          <a:prstGeom prst="roundRect">
            <a:avLst/>
          </a:prstGeom>
          <a:solidFill>
            <a:srgbClr val="E2EDF9"/>
          </a:solidFill>
          <a:ln w="10160"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35C9A"/>
                </a:solidFill>
                <a:latin typeface="Microsoft YaHei"/>
              </a:rPr>
              <a:t>31-60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33172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小规模内容分发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971800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75B50"/>
                </a:solidFill>
                <a:latin typeface="Microsoft YaHei"/>
              </a:rPr>
              <a:t>每周 2-3 个任务案例
用户群 + 公开反馈入口
推荐奖励 / 邀请码
确认 Pro/Max 成本边界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600200"/>
            <a:ext cx="3154680" cy="402336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31351" y="1828800"/>
            <a:ext cx="1097280" cy="310896"/>
          </a:xfrm>
          <a:prstGeom prst="roundRect">
            <a:avLst/>
          </a:prstGeom>
          <a:solidFill>
            <a:srgbClr val="F6E5D4"/>
          </a:solidFill>
          <a:ln w="10160">
            <a:solidFill>
              <a:srgbClr val="F6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AE5D2D"/>
                </a:solidFill>
                <a:latin typeface="Microsoft YaHei"/>
              </a:rPr>
              <a:t>61-90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1" y="233172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11B16"/>
                </a:solidFill>
                <a:latin typeface="Microsoft YaHei"/>
              </a:rPr>
              <a:t>验证付费与团队包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1" y="2971800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75B50"/>
                </a:solidFill>
                <a:latin typeface="Microsoft YaHei"/>
              </a:rPr>
              <a:t>价格页和额度说明
Max / Team 试卖
小规模定向投放
复盘留存、毛利、转化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关键指标看板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每周只看能决定商业化的指标，避免被下载量和曝光量带偏。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331720" cy="73152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安装成功率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037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下载到成功启动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0876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508760"/>
            <a:ext cx="2331720" cy="73152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76479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首次任务成功率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037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10 分钟内完成真实任务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50876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08760"/>
            <a:ext cx="2331720" cy="73152"/>
          </a:xfrm>
          <a:prstGeom prst="rect">
            <a:avLst/>
          </a:prstGeom>
          <a:solidFill>
            <a:srgbClr val="235C9A"/>
          </a:solidFill>
          <a:ln w="10160">
            <a:solidFill>
              <a:srgbClr val="23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6479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D1 / D7 留存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037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第二天和一周后是否回来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0876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508760"/>
            <a:ext cx="2331720" cy="73152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试用转付费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2037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Trial -&gt; Pro / 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2331720" cy="73152"/>
          </a:xfrm>
          <a:prstGeom prst="rect">
            <a:avLst/>
          </a:prstGeom>
          <a:solidFill>
            <a:srgbClr val="BF4137"/>
          </a:solidFill>
          <a:ln w="10160">
            <a:solidFill>
              <a:srgbClr val="BF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07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毛利/活跃用户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收入是否覆盖模型成本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347472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474720"/>
            <a:ext cx="2331720" cy="73152"/>
          </a:xfrm>
          <a:prstGeom prst="rect">
            <a:avLst/>
          </a:prstGeom>
          <a:solidFill>
            <a:srgbClr val="BF4137"/>
          </a:solidFill>
          <a:ln w="10160">
            <a:solidFill>
              <a:srgbClr val="BF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7307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支持工单率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169663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每 100 活跃用户的问题数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47472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474720"/>
            <a:ext cx="2331720" cy="73152"/>
          </a:xfrm>
          <a:prstGeom prst="rect">
            <a:avLst/>
          </a:prstGeom>
          <a:solidFill>
            <a:srgbClr val="235C9A"/>
          </a:solidFill>
          <a:ln w="10160">
            <a:solidFill>
              <a:srgbClr val="23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307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任务完成数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69663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每用户每周有效任务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474720"/>
            <a:ext cx="2331720" cy="132588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3474720"/>
            <a:ext cx="2331720" cy="73152"/>
          </a:xfrm>
          <a:prstGeom prst="rect">
            <a:avLst/>
          </a:prstGeom>
          <a:solidFill>
            <a:srgbClr val="AE5D2D"/>
          </a:solidFill>
          <a:ln w="10160">
            <a:solidFill>
              <a:srgbClr val="AE5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37307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PQA 信号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4169663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75B50"/>
                </a:solidFill>
                <a:latin typeface="Microsoft YaHei"/>
              </a:rPr>
              <a:t>高频、多人、配置复杂度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86400"/>
            <a:ext cx="10744200" cy="68580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486400"/>
            <a:ext cx="73152" cy="68580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6692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判断标准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6108192"/>
            <a:ext cx="10332720" cy="-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只有当首次任务成功率、D7 留存、试用转付费和毛利同时变好，才进入更大规模投放。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C7A63"/>
                </a:solidFill>
                <a:latin typeface="Microsoft YaHei"/>
              </a:rPr>
              <a:t>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11B16"/>
                </a:solidFill>
                <a:latin typeface="Microsoft YaHei"/>
              </a:rPr>
              <a:t>行动准则与参考来源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先把产品价值交付给小人群，再逐步放大。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32918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291840"/>
          </a:xfrm>
          <a:prstGeom prst="rect">
            <a:avLst/>
          </a:prstGeom>
          <a:solidFill>
            <a:srgbClr val="1C7A63"/>
          </a:solidFill>
          <a:ln w="10160">
            <a:solidFill>
              <a:srgbClr val="1C7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现在应该做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846320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1. 手动拿下 30-50 个高质量用户
2. 打磨首次成功任务
3. 用真实任务案例做内容
4. 明确 Pro / Max / Team 的额度和毛利
5. 产品化安装、更新、诊断和支持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3291840"/>
          </a:xfrm>
          <a:prstGeom prst="roundRect">
            <a:avLst/>
          </a:prstGeom>
          <a:solidFill>
            <a:srgbClr val="FFFBF3"/>
          </a:solidFill>
          <a:ln w="10160">
            <a:solidFill>
              <a:srgbClr val="E6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291840"/>
          </a:xfrm>
          <a:prstGeom prst="rect">
            <a:avLst/>
          </a:prstGeom>
          <a:solidFill>
            <a:srgbClr val="BF4137"/>
          </a:solidFill>
          <a:ln w="10160">
            <a:solidFill>
              <a:srgbClr val="BF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11B16"/>
                </a:solidFill>
                <a:latin typeface="Microsoft YaHei"/>
              </a:rPr>
              <a:t>现在不建议做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4846320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1. 大规模买量
2. 泛人群品牌口号
3. 低价无限用强模型
4. 过早企业销售
5. 追每个定制需求而不沉淀产品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75B50"/>
                </a:solidFill>
                <a:latin typeface="Microsoft YaHei"/>
              </a:rPr>
              <a:t>参考：Paul Graham《Do Things that Don’t Scale》；OpenView Product-Led Growth；PostHog Marketing Handbook；GitHub Open Source Guide。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978676"/>
                </a:solidFill>
                <a:latin typeface="Microsoft YaHei"/>
              </a:rPr>
              <a:t>Gugu Agent growth strategy ·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