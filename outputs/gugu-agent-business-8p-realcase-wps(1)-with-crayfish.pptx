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3" r:id="rId6"/>
    <p:sldId id="259" r:id="rId7"/>
    <p:sldId id="260" r:id="rId8"/>
    <p:sldId id="261" r:id="rId9"/>
    <p:sldId id="262" r:id="rId10"/>
    <p:sldId id="264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F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838200"/>
            <a:ext cx="5143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7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Gugu Agent</a:t>
            </a:r>
            <a:endParaRPr sz="375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619250"/>
            <a:ext cx="6286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4EF4D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4EF4D8"/>
                </a:solidFill>
                <a:latin typeface="Aptos Display"/>
                <a:ea typeface="Aptos Display"/>
                <a:cs typeface="Aptos Display"/>
              </a:rPr>
              <a:t>Gugu Agent：用真实成本打穿 Agent 交付账</a:t>
            </a:r>
            <a:endParaRPr sz="2325" b="1">
              <a:solidFill>
                <a:srgbClr val="4EF4D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2400300"/>
            <a:ext cx="6191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同样做俄罗斯方块：Gugu 对接 DeepSeek V4 只花 ¥0.07；Cursor 对接 gpt-5.5-extra-high 折算约 $0.44。</a:t>
            </a:r>
            <a:endParaRPr sz="12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47700" y="3448050"/>
            <a:ext cx="5810250" cy="819150"/>
          </a:xfrm>
          <a:prstGeom prst="roundRect">
            <a:avLst>
              <a:gd name="adj" fmla="val 9302"/>
            </a:avLst>
          </a:prstGeom>
          <a:solidFill>
            <a:srgbClr val="0B2134"/>
          </a:solidFill>
          <a:ln w="9525">
            <a:solidFill>
              <a:srgbClr val="82F6A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36576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2F6A3"/>
                </a:solidFill>
                <a:latin typeface="Aptos"/>
                <a:ea typeface="Aptos"/>
                <a:cs typeface="Aptos"/>
              </a:rPr>
              <a:t>实测成本优势</a:t>
            </a:r>
            <a:endParaRPr sz="1350" b="1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62250" y="3657600"/>
            <a:ext cx="3333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Gugu + DeepSeek V4：¥0.07；Cursor + gpt-5.5：$20 × 2.2% = $0.44。</a:t>
            </a:r>
            <a:endParaRPr sz="97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7700" y="4476750"/>
            <a:ext cx="5810250" cy="819150"/>
          </a:xfrm>
          <a:prstGeom prst="roundRect">
            <a:avLst>
              <a:gd name="adj" fmla="val 9302"/>
            </a:avLst>
          </a:prstGeom>
          <a:solidFill>
            <a:srgbClr val="0B2134"/>
          </a:solidFill>
          <a:ln w="9525">
            <a:solidFill>
              <a:srgbClr val="A990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46863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A990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90FF"/>
                </a:solidFill>
                <a:latin typeface="Aptos"/>
                <a:ea typeface="Aptos"/>
                <a:cs typeface="Aptos"/>
              </a:rPr>
              <a:t>盈利重心</a:t>
            </a:r>
            <a:endParaRPr sz="1350" b="1">
              <a:solidFill>
                <a:srgbClr val="A990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62250" y="4686300"/>
            <a:ext cx="3333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低成本让任务可以高频发生；团队流程、权限审计和私有化负责赚钱。</a:t>
            </a:r>
            <a:endParaRPr sz="97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286625" y="1200150"/>
            <a:ext cx="3714750" cy="4000500"/>
          </a:xfrm>
          <a:prstGeom prst="roundRect">
            <a:avLst>
              <a:gd name="adj" fmla="val 2051"/>
            </a:avLst>
          </a:prstGeom>
          <a:solidFill>
            <a:srgbClr val="0A1B2E"/>
          </a:solidFill>
          <a:ln w="9525">
            <a:solidFill>
              <a:srgbClr val="4EF4D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20000" y="15621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INVESTOR TAKEAWAY</a:t>
            </a:r>
            <a:endParaRPr sz="825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715250" y="2038350"/>
            <a:ext cx="2857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100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100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rPr>
              <a:t>简单任务</a:t>
            </a:r>
            <a:r>
              <a:rPr sz="2100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rPr>
              <a:t>免费化；交付链路会收费</a:t>
            </a:r>
            <a:endParaRPr sz="2100" b="1">
              <a:solidFill>
                <a:srgbClr val="82F6A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905750" y="3067050"/>
            <a:ext cx="2476500" cy="19050"/>
          </a:xfrm>
          <a:prstGeom prst="rect">
            <a:avLst/>
          </a:prstGeom>
          <a:solidFill>
            <a:srgbClr val="4EF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715250" y="3448050"/>
            <a:ext cx="2857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¥0.07 实测成本 → 高频试错 → 团队流程沉淀 → Team / Enterprise 收入</a:t>
            </a:r>
            <a:endParaRPr sz="127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477250" y="4629150"/>
            <a:ext cx="1333500" cy="266700"/>
          </a:xfrm>
          <a:prstGeom prst="roundRect">
            <a:avLst>
              <a:gd name="adj" fmla="val 28571"/>
            </a:avLst>
          </a:prstGeom>
          <a:solidFill>
            <a:srgbClr val="081D2E"/>
          </a:solidFill>
          <a:ln w="9525">
            <a:solidFill>
              <a:srgbClr val="82F6A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91550" y="468630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15" b="1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715" b="1">
                <a:solidFill>
                  <a:srgbClr val="82F6A3"/>
                </a:solidFill>
                <a:latin typeface="Aptos"/>
                <a:ea typeface="Aptos"/>
                <a:cs typeface="Aptos"/>
              </a:rPr>
              <a:t>实测商业版</a:t>
            </a:r>
            <a:endParaRPr sz="715" b="1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90550" y="6343650"/>
            <a:ext cx="11010900" cy="9525"/>
          </a:xfrm>
          <a:prstGeom prst="rect">
            <a:avLst/>
          </a:prstGeom>
          <a:solidFill>
            <a:srgbClr val="1D3A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770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4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Gugu Agent · 商业差异化版 · 俄罗斯方块实测成本对比</a:t>
            </a:r>
            <a:endParaRPr sz="64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763250" y="65151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1 / 8</a:t>
            </a:r>
            <a:endParaRPr sz="75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41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真正分水岭</a:t>
            </a:r>
            <a:endParaRPr sz="975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39450" y="419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02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09575"/>
            <a:ext cx="19050" cy="342900"/>
          </a:xfrm>
          <a:prstGeom prst="rect">
            <a:avLst/>
          </a:prstGeom>
          <a:solidFill>
            <a:srgbClr val="6172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68100" y="4191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08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78105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IDE Agent 写得快，CLI Agent 交得出</a:t>
            </a:r>
            <a:endParaRPr sz="285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46685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这不是谁替代谁，而是战场不同：补全在 IDE 里竞争，交付闭环在整个工程周期里竞争。</a:t>
            </a:r>
            <a:endParaRPr sz="142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42950" y="2209800"/>
            <a:ext cx="2952750" cy="2647950"/>
          </a:xfrm>
          <a:prstGeom prst="roundRect">
            <a:avLst>
              <a:gd name="adj" fmla="val 2878"/>
            </a:avLst>
          </a:prstGeom>
          <a:solidFill>
            <a:srgbClr val="0D2034"/>
          </a:solidFill>
          <a:ln w="9525">
            <a:solidFill>
              <a:srgbClr val="4DB8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4955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4DB8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4DB8FF"/>
                </a:solidFill>
                <a:latin typeface="Aptos Display"/>
                <a:ea typeface="Aptos Display"/>
                <a:cs typeface="Aptos Display"/>
              </a:rPr>
              <a:t>IDE Agent</a:t>
            </a:r>
            <a:endParaRPr sz="1725" b="1">
              <a:solidFill>
                <a:srgbClr val="4DB8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3028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战场：编辑器内</a:t>
            </a:r>
            <a:endParaRPr sz="105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3371850"/>
            <a:ext cx="22098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低延迟补全、解释代码、辅助新文件生成；优势是安装即用、体验顺滑。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162050" y="4305300"/>
            <a:ext cx="1581150" cy="323850"/>
          </a:xfrm>
          <a:prstGeom prst="roundRect">
            <a:avLst>
              <a:gd name="adj" fmla="val 23529"/>
            </a:avLst>
          </a:prstGeom>
          <a:solidFill>
            <a:srgbClr val="071725"/>
          </a:solidFill>
          <a:ln w="9525">
            <a:solidFill>
              <a:srgbClr val="4DB8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76350" y="4391025"/>
            <a:ext cx="135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4DB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DB8FF"/>
                </a:solidFill>
                <a:latin typeface="Aptos"/>
                <a:ea typeface="Aptos"/>
                <a:cs typeface="Aptos"/>
              </a:rPr>
              <a:t>让人写代码更快</a:t>
            </a:r>
            <a:endParaRPr sz="825" b="1">
              <a:solidFill>
                <a:srgbClr val="4DB8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619625" y="2000250"/>
            <a:ext cx="2952750" cy="3048000"/>
          </a:xfrm>
          <a:prstGeom prst="roundRect">
            <a:avLst>
              <a:gd name="adj" fmla="val 2581"/>
            </a:avLst>
          </a:prstGeom>
          <a:solidFill>
            <a:srgbClr val="0A1C2E"/>
          </a:solidFill>
          <a:ln w="9525">
            <a:solidFill>
              <a:srgbClr val="4EF4D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953000" y="234315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Gugu Agent</a:t>
            </a:r>
            <a:endParaRPr sz="180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43500" y="29908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交付路由</a:t>
            </a:r>
            <a:endParaRPr sz="1350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095875" y="3390900"/>
            <a:ext cx="2000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把任务分配给模型、工具、权限和工作流</a:t>
            </a:r>
            <a:endParaRPr sz="1050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19700" y="4191000"/>
            <a:ext cx="1752600" cy="19050"/>
          </a:xfrm>
          <a:prstGeom prst="rect">
            <a:avLst/>
          </a:prstGeom>
          <a:solidFill>
            <a:srgbClr val="4EF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334000" y="43624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2F6A3"/>
                </a:solidFill>
                <a:latin typeface="Aptos"/>
                <a:ea typeface="Aptos"/>
                <a:cs typeface="Aptos"/>
              </a:rPr>
              <a:t>围绕结果负责</a:t>
            </a:r>
            <a:endParaRPr sz="1200" b="1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496300" y="2209800"/>
            <a:ext cx="2952750" cy="2647950"/>
          </a:xfrm>
          <a:prstGeom prst="roundRect">
            <a:avLst>
              <a:gd name="adj" fmla="val 2878"/>
            </a:avLst>
          </a:prstGeom>
          <a:solidFill>
            <a:srgbClr val="0D2034"/>
          </a:solidFill>
          <a:ln w="9525">
            <a:solidFill>
              <a:srgbClr val="82F6A3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801100" y="24955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rPr>
              <a:t>CLI Agent</a:t>
            </a:r>
            <a:endParaRPr sz="1725" b="1">
              <a:solidFill>
                <a:srgbClr val="82F6A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01100" y="3028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战场：交付周期</a:t>
            </a:r>
            <a:endParaRPr sz="105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801100" y="3371850"/>
            <a:ext cx="22098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读库、改码、运行命令、验证结果、审批回传；优势是进入 CI、服务器和团队流程。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915400" y="4305300"/>
            <a:ext cx="1581150" cy="323850"/>
          </a:xfrm>
          <a:prstGeom prst="roundRect">
            <a:avLst>
              <a:gd name="adj" fmla="val 23529"/>
            </a:avLst>
          </a:prstGeom>
          <a:solidFill>
            <a:srgbClr val="071725"/>
          </a:solidFill>
          <a:ln w="9525">
            <a:solidFill>
              <a:srgbClr val="82F6A3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029700" y="4391025"/>
            <a:ext cx="135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2F6A3"/>
                </a:solidFill>
                <a:latin typeface="Aptos"/>
                <a:ea typeface="Aptos"/>
                <a:cs typeface="Aptos"/>
              </a:rPr>
              <a:t>让软件做出来</a:t>
            </a:r>
            <a:endParaRPr sz="825" b="1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848100" y="3352800"/>
            <a:ext cx="495300" cy="19050"/>
          </a:xfrm>
          <a:prstGeom prst="rect">
            <a:avLst/>
          </a:prstGeom>
          <a:solidFill>
            <a:srgbClr val="6172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848600" y="3352800"/>
            <a:ext cx="495300" cy="19050"/>
          </a:xfrm>
          <a:prstGeom prst="rect">
            <a:avLst/>
          </a:prstGeom>
          <a:solidFill>
            <a:srgbClr val="6172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428750" y="5486400"/>
            <a:ext cx="9334500" cy="285750"/>
          </a:xfrm>
          <a:prstGeom prst="rect">
            <a:avLst/>
          </a:prstGeom>
          <a:solidFill>
            <a:srgbClr val="0D2034"/>
          </a:solidFill>
          <a:ln w="9525">
            <a:solidFill>
              <a:srgbClr val="1D3A56"/>
            </a:solidFill>
            <a:prstDash val="solid"/>
          </a:ln>
        </p:spPr>
        <p:txBody>
          <a:bodyPr lIns="171450" tIns="66675" rIns="171450" bIns="66675" anchor="t"/>
          <a:lstStyle/>
          <a:p>
            <a:pPr algn="ctr">
              <a:buNone/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商业判断：补全工具会逐步免费化；交付链路、权限审批和团队资产沉淀才有长期收费空间。</a:t>
            </a:r>
            <a:endParaRPr sz="1275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90550" y="6343650"/>
            <a:ext cx="11010900" cy="9525"/>
          </a:xfrm>
          <a:prstGeom prst="rect">
            <a:avLst/>
          </a:prstGeom>
          <a:solidFill>
            <a:srgbClr val="1D3A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4770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4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Gugu Agent · 商业差异化版 · 官方价格复核于 2026-05-17</a:t>
            </a:r>
            <a:endParaRPr sz="64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763250" y="65151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2 / 8</a:t>
            </a:r>
            <a:endParaRPr sz="75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41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实测证据</a:t>
            </a:r>
            <a:endParaRPr sz="975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39450" y="419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08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09575"/>
            <a:ext cx="19050" cy="342900"/>
          </a:xfrm>
          <a:prstGeom prst="rect">
            <a:avLst/>
          </a:prstGeom>
          <a:solidFill>
            <a:srgbClr val="6172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68100" y="4191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08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7630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一个俄罗斯方块任务，成本差距直接可见</a:t>
            </a:r>
            <a:endParaRPr sz="2625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5049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Gugu / DeepSeek V4：¥0.07；Cursor / gpt-5.5-extra-high：Included Usage 2.2%，按 $20/月折算 $0.44。</a:t>
            </a:r>
            <a:endParaRPr sz="1350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42950" y="2152650"/>
            <a:ext cx="3028950" cy="3524250"/>
          </a:xfrm>
          <a:prstGeom prst="roundRect">
            <a:avLst>
              <a:gd name="adj" fmla="val 2516"/>
            </a:avLst>
          </a:prstGeom>
          <a:solidFill>
            <a:srgbClr val="0A1D2F"/>
          </a:solidFill>
          <a:ln w="9525">
            <a:solidFill>
              <a:srgbClr val="4DB8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09650" y="243840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4DB8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DB8FF"/>
                </a:solidFill>
                <a:latin typeface="Aptos"/>
                <a:ea typeface="Aptos"/>
                <a:cs typeface="Aptos"/>
              </a:rPr>
              <a:t>Cursor + gpt-5.5</a:t>
            </a:r>
            <a:endParaRPr sz="1575" b="1">
              <a:solidFill>
                <a:srgbClr val="4DB8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895600"/>
            <a:ext cx="2362200" cy="19050"/>
          </a:xfrm>
          <a:prstGeom prst="rect">
            <a:avLst/>
          </a:prstGeom>
          <a:solidFill>
            <a:srgbClr val="4DB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31432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Included Usage</a:t>
            </a:r>
            <a:endParaRPr sz="1125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35433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API</a:t>
            </a:r>
            <a:endParaRPr sz="135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62150" y="35433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64万 tokens</a:t>
            </a:r>
            <a:endParaRPr sz="135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028950" y="35433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2.2%</a:t>
            </a:r>
            <a:endParaRPr sz="135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28700" y="3905250"/>
            <a:ext cx="2400300" cy="9525"/>
          </a:xfrm>
          <a:prstGeom prst="rect">
            <a:avLst/>
          </a:prstGeom>
          <a:solidFill>
            <a:srgbClr val="2F3B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23950" y="4076700"/>
            <a:ext cx="223012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75" b="1">
                <a:solidFill>
                  <a:srgbClr val="FF6F8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>
                <a:solidFill>
                  <a:srgbClr val="FF6F8E"/>
                </a:solidFill>
                <a:latin typeface="Aptos"/>
                <a:ea typeface="Aptos"/>
                <a:cs typeface="Aptos"/>
                <a:sym typeface="+mn-ea"/>
              </a:rPr>
              <a:t>$20 × 2.2%</a:t>
            </a:r>
            <a:r>
              <a:rPr lang="en-US" sz="1800" b="1">
                <a:solidFill>
                  <a:srgbClr val="FF6F8E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n-US" sz="1875" b="1">
                <a:solidFill>
                  <a:srgbClr val="FF6F8E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875" b="1">
                <a:solidFill>
                  <a:srgbClr val="FF6F8E"/>
                </a:solidFill>
                <a:latin typeface="Aptos Display"/>
                <a:ea typeface="Aptos Display"/>
                <a:cs typeface="Aptos Display"/>
              </a:rPr>
              <a:t>= $0.44</a:t>
            </a:r>
            <a:endParaRPr sz="1875" b="1">
              <a:solidFill>
                <a:srgbClr val="FF6F8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685925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809750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933575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057400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181225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305050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428875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552700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676525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800350" y="4400550"/>
            <a:ext cx="9525" cy="9906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562100" y="4400550"/>
            <a:ext cx="1238250" cy="9525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562100" y="4524375"/>
            <a:ext cx="1238250" cy="9525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562100" y="4648200"/>
            <a:ext cx="1238250" cy="9525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562100" y="4772025"/>
            <a:ext cx="1238250" cy="9525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562100" y="4895850"/>
            <a:ext cx="1238250" cy="9525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562100" y="5019675"/>
            <a:ext cx="1238250" cy="9525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562100" y="5143500"/>
            <a:ext cx="1238250" cy="9525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562100" y="5267325"/>
            <a:ext cx="1238250" cy="9525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391150"/>
            <a:ext cx="1238250" cy="9525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057400" y="4648200"/>
            <a:ext cx="114300" cy="114300"/>
          </a:xfrm>
          <a:prstGeom prst="rect">
            <a:avLst/>
          </a:prstGeom>
          <a:solidFill>
            <a:srgbClr val="FF6F8E"/>
          </a:solidFill>
          <a:ln w="571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181225" y="4648200"/>
            <a:ext cx="114300" cy="114300"/>
          </a:xfrm>
          <a:prstGeom prst="rect">
            <a:avLst/>
          </a:prstGeom>
          <a:solidFill>
            <a:srgbClr val="FF6F8E"/>
          </a:solidFill>
          <a:ln w="571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2181225" y="4772025"/>
            <a:ext cx="114300" cy="114300"/>
          </a:xfrm>
          <a:prstGeom prst="rect">
            <a:avLst/>
          </a:prstGeom>
          <a:solidFill>
            <a:srgbClr val="FF6F8E"/>
          </a:solidFill>
          <a:ln w="571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2305050" y="4772025"/>
            <a:ext cx="114300" cy="114300"/>
          </a:xfrm>
          <a:prstGeom prst="rect">
            <a:avLst/>
          </a:prstGeom>
          <a:solidFill>
            <a:srgbClr val="FF6F8E"/>
          </a:solidFill>
          <a:ln w="571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057400" y="5267325"/>
            <a:ext cx="114300" cy="114300"/>
          </a:xfrm>
          <a:prstGeom prst="rect">
            <a:avLst/>
          </a:prstGeom>
          <a:solidFill>
            <a:srgbClr val="3A3A3A"/>
          </a:solidFill>
          <a:ln w="571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2181225" y="5267325"/>
            <a:ext cx="114300" cy="114300"/>
          </a:xfrm>
          <a:prstGeom prst="rect">
            <a:avLst/>
          </a:prstGeom>
          <a:solidFill>
            <a:srgbClr val="3A3A3A"/>
          </a:solidFill>
          <a:ln w="571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181225" y="5391150"/>
            <a:ext cx="114300" cy="114300"/>
          </a:xfrm>
          <a:prstGeom prst="rect">
            <a:avLst/>
          </a:prstGeom>
          <a:solidFill>
            <a:srgbClr val="3A3A3A"/>
          </a:solidFill>
          <a:ln w="571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305050" y="5391150"/>
            <a:ext cx="114300" cy="114300"/>
          </a:xfrm>
          <a:prstGeom prst="rect">
            <a:avLst/>
          </a:prstGeom>
          <a:solidFill>
            <a:srgbClr val="3A3A3A"/>
          </a:solidFill>
          <a:ln w="571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562100" y="5429250"/>
            <a:ext cx="1295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俄罗斯方块 Demo</a:t>
            </a:r>
            <a:endParaRPr sz="750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4191000" y="2152650"/>
            <a:ext cx="3429000" cy="3524250"/>
          </a:xfrm>
          <a:prstGeom prst="roundRect">
            <a:avLst>
              <a:gd name="adj" fmla="val 2222"/>
            </a:avLst>
          </a:prstGeom>
          <a:solidFill>
            <a:srgbClr val="0A1D2F"/>
          </a:solidFill>
          <a:ln w="9525">
            <a:solidFill>
              <a:srgbClr val="82F6A3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4476750" y="24384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2F6A3"/>
                </a:solidFill>
                <a:latin typeface="Aptos"/>
                <a:ea typeface="Aptos"/>
                <a:cs typeface="Aptos"/>
              </a:rPr>
              <a:t>Gugu Agent + DeepSeek V4</a:t>
            </a:r>
            <a:endParaRPr sz="1575" b="1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4686300" y="2895600"/>
            <a:ext cx="2438400" cy="19050"/>
          </a:xfrm>
          <a:prstGeom prst="rect">
            <a:avLst/>
          </a:prstGeom>
          <a:solidFill>
            <a:srgbClr val="82F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9071" y="3105150"/>
            <a:ext cx="1632857" cy="838200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998" y="4038600"/>
            <a:ext cx="1523004" cy="838200"/>
          </a:xfrm>
          <a:prstGeom prst="rect">
            <a:avLst/>
          </a:prstGeom>
        </p:spPr>
      </p:pic>
      <p:sp>
        <p:nvSpPr>
          <p:cNvPr id="54" name="矩形 53"/>
          <p:cNvSpPr>
            <a:spLocks noGrp="1"/>
          </p:cNvSpPr>
          <p:nvPr/>
        </p:nvSpPr>
        <p:spPr>
          <a:xfrm>
            <a:off x="4572000" y="50101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¥96.62 → ¥96.55</a:t>
            </a:r>
            <a:endParaRPr sz="135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981700" y="4933950"/>
            <a:ext cx="123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025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rPr>
              <a:t>消耗 ¥0.07</a:t>
            </a:r>
            <a:endParaRPr sz="2025" b="1">
              <a:solidFill>
                <a:srgbClr val="82F6A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8039100" y="2152650"/>
            <a:ext cx="3333750" cy="3524250"/>
          </a:xfrm>
          <a:prstGeom prst="roundRect">
            <a:avLst>
              <a:gd name="adj" fmla="val 2286"/>
            </a:avLst>
          </a:prstGeom>
          <a:solidFill>
            <a:srgbClr val="0A1D2F"/>
          </a:solidFill>
          <a:ln w="9525">
            <a:solidFill>
              <a:srgbClr val="4EF4D8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324850" y="24384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直观结论</a:t>
            </a:r>
            <a:endParaRPr sz="1575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877300" y="3067050"/>
            <a:ext cx="514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950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约</a:t>
            </a:r>
            <a:endParaRPr sz="1950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9486900" y="2876550"/>
            <a:ext cx="104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350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rPr>
              <a:t>45x</a:t>
            </a:r>
            <a:endParaRPr sz="4350" b="1">
              <a:solidFill>
                <a:srgbClr val="82F6A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858250" y="361950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成本优势</a:t>
            </a:r>
            <a:endParaRPr sz="150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0" y="4248150"/>
            <a:ext cx="2190750" cy="171450"/>
          </a:xfrm>
          <a:prstGeom prst="rect">
            <a:avLst/>
          </a:prstGeom>
          <a:solidFill>
            <a:srgbClr val="132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8572500" y="4248150"/>
            <a:ext cx="57150" cy="171450"/>
          </a:xfrm>
          <a:prstGeom prst="rect">
            <a:avLst/>
          </a:prstGeom>
          <a:solidFill>
            <a:srgbClr val="82F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8572500" y="4000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2F6A3"/>
                </a:solidFill>
                <a:latin typeface="Aptos"/>
                <a:ea typeface="Aptos"/>
                <a:cs typeface="Aptos"/>
              </a:rPr>
              <a:t>Gugu ¥0.07</a:t>
            </a:r>
            <a:endParaRPr sz="900" b="1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8572500" y="4686300"/>
            <a:ext cx="2190750" cy="171450"/>
          </a:xfrm>
          <a:prstGeom prst="rect">
            <a:avLst/>
          </a:prstGeom>
          <a:solidFill>
            <a:srgbClr val="FF6F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8572500" y="443865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6F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F8E"/>
                </a:solidFill>
                <a:latin typeface="Aptos"/>
                <a:ea typeface="Aptos"/>
                <a:cs typeface="Aptos"/>
              </a:rPr>
              <a:t>Cursor $0.44（约¥3.2）</a:t>
            </a:r>
            <a:endParaRPr sz="900" b="1">
              <a:solidFill>
                <a:srgbClr val="FF6F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343900" y="51054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同样是可运行的交付结果，Gugu 的低成本让高频试错、批量任务和团队交付更容易成立。</a:t>
            </a:r>
            <a:endParaRPr sz="97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1123950" y="5829300"/>
            <a:ext cx="9944100" cy="381000"/>
          </a:xfrm>
          <a:prstGeom prst="roundRect">
            <a:avLst>
              <a:gd name="adj" fmla="val 20000"/>
            </a:avLst>
          </a:prstGeom>
          <a:solidFill>
            <a:srgbClr val="0D2034"/>
          </a:solidFill>
          <a:ln w="9525">
            <a:solidFill>
              <a:srgbClr val="1D3A56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1428750" y="594360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9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9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商业含义：低 token 成本不是卖点本身，而是让团队工作流可以高频发生、持续沉淀、最终收费。</a:t>
            </a:r>
            <a:endParaRPr sz="109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590550" y="6343650"/>
            <a:ext cx="11010900" cy="9525"/>
          </a:xfrm>
          <a:prstGeom prst="rect">
            <a:avLst/>
          </a:prstGeom>
          <a:solidFill>
            <a:srgbClr val="1D3A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64770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Gugu Agent · 商业差异化版 · 俄罗斯方块实测成本对比</a:t>
            </a:r>
            <a:endParaRPr sz="64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10763250" y="65151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8 / 8</a:t>
            </a:r>
            <a:endParaRPr sz="75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41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真实成本对比</a:t>
            </a:r>
            <a:endParaRPr sz="975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39450" y="419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04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09575"/>
            <a:ext cx="19050" cy="342900"/>
          </a:xfrm>
          <a:prstGeom prst="rect">
            <a:avLst/>
          </a:prstGeom>
          <a:solidFill>
            <a:srgbClr val="6172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68100" y="4191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08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78105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同样做俄罗斯方块：Gugu 7 分，Cursor 约 $0.44</a:t>
            </a:r>
            <a:endParaRPr sz="285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46685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实测口径：Gugu 对接 DeepSeek V4，余额从 ¥96.62 到 ¥96.55，消耗 ¥0.07；Cursor 对接 gpt-5.5-extra-high，Included Usage 2.2%，按 $20/mo 折算 $0.44。</a:t>
            </a:r>
            <a:endParaRPr sz="142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04850" y="2076450"/>
            <a:ext cx="3276600" cy="3524250"/>
          </a:xfrm>
          <a:prstGeom prst="roundRect">
            <a:avLst>
              <a:gd name="adj" fmla="val 2326"/>
            </a:avLst>
          </a:prstGeom>
          <a:solidFill>
            <a:srgbClr val="0D2034"/>
          </a:solidFill>
          <a:ln w="9525">
            <a:solidFill>
              <a:srgbClr val="4DB8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305050"/>
            <a:ext cx="2819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4DB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DB8FF"/>
                </a:solidFill>
                <a:latin typeface="Aptos Display"/>
                <a:ea typeface="Aptos Display"/>
                <a:cs typeface="Aptos Display"/>
              </a:rPr>
              <a:t>Cursor</a:t>
            </a:r>
            <a:endParaRPr sz="1800" b="1">
              <a:solidFill>
                <a:srgbClr val="4DB8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09650" y="2800350"/>
            <a:ext cx="2667000" cy="19050"/>
          </a:xfrm>
          <a:prstGeom prst="rect">
            <a:avLst/>
          </a:prstGeom>
          <a:solidFill>
            <a:srgbClr val="4DB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30289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订阅入口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943100" y="3009900"/>
            <a:ext cx="171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Pro $20/mo</a:t>
            </a:r>
            <a:endParaRPr sz="900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9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Teams $40/user/mo</a:t>
            </a:r>
            <a:endParaRPr sz="900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9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Enterprise custom</a:t>
            </a:r>
            <a:endParaRPr sz="900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36576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用量机制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943100" y="36385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订阅包含模型用量；Enterprise 有 pooled/precommitted usage；超出或无订单时 on-demand。</a:t>
            </a:r>
            <a:endParaRPr sz="86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71550" y="4400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团队价值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943100" y="4381500"/>
            <a:ext cx="171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团队规则、skills、usage analytics、集中账单。</a:t>
            </a:r>
            <a:endParaRPr sz="86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71550" y="50101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商业含义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943100" y="4991100"/>
            <a:ext cx="171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本次真实任务：gpt-5.5-extra-high 用掉 2.2% included usage，按 Pro $20 折算 $0.44。</a:t>
            </a:r>
            <a:endParaRPr sz="810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419600" y="2076450"/>
            <a:ext cx="3276600" cy="3524250"/>
          </a:xfrm>
          <a:prstGeom prst="roundRect">
            <a:avLst>
              <a:gd name="adj" fmla="val 2326"/>
            </a:avLst>
          </a:prstGeom>
          <a:solidFill>
            <a:srgbClr val="0D2034"/>
          </a:solidFill>
          <a:ln w="9525">
            <a:solidFill>
              <a:srgbClr val="A990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48200" y="2305050"/>
            <a:ext cx="2819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A990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990FF"/>
                </a:solidFill>
                <a:latin typeface="Aptos Display"/>
                <a:ea typeface="Aptos Display"/>
                <a:cs typeface="Aptos Display"/>
              </a:rPr>
              <a:t>Cursor + GPT-5.5</a:t>
            </a:r>
            <a:endParaRPr sz="1800" b="1">
              <a:solidFill>
                <a:srgbClr val="A990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724400" y="2800350"/>
            <a:ext cx="2667000" cy="19050"/>
          </a:xfrm>
          <a:prstGeom prst="rect">
            <a:avLst/>
          </a:prstGeom>
          <a:solidFill>
            <a:srgbClr val="A99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686300" y="30289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订阅入口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57850" y="3009900"/>
            <a:ext cx="171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Pro 额度 $20/mo</a:t>
            </a:r>
            <a:endParaRPr sz="900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9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本次使用 2.2%</a:t>
            </a:r>
            <a:endParaRPr sz="900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9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折算 $0.44</a:t>
            </a:r>
            <a:endParaRPr sz="900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686300" y="36576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用量机制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57850" y="36385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Included Usage API：64万 tokens，占 2.2%；重度任务会直接体现为可计量用量。</a:t>
            </a:r>
            <a:endParaRPr sz="86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686300" y="4400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团队价值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657850" y="4381500"/>
            <a:ext cx="171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同样做俄罗斯方块，效果可跑，但单次成本按订阅额度折算明显更高。</a:t>
            </a:r>
            <a:endParaRPr sz="86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686300" y="50101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商业含义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657850" y="4991100"/>
            <a:ext cx="171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本次实测：$20 × 2.2% = $0.44。</a:t>
            </a:r>
            <a:endParaRPr sz="810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134350" y="2076450"/>
            <a:ext cx="3276600" cy="3524250"/>
          </a:xfrm>
          <a:prstGeom prst="roundRect">
            <a:avLst>
              <a:gd name="adj" fmla="val 2326"/>
            </a:avLst>
          </a:prstGeom>
          <a:solidFill>
            <a:srgbClr val="0D2034"/>
          </a:solidFill>
          <a:ln w="9525">
            <a:solidFill>
              <a:srgbClr val="82F6A3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362950" y="2305050"/>
            <a:ext cx="2819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82F6A3"/>
                </a:solidFill>
                <a:latin typeface="Aptos Display"/>
                <a:ea typeface="Aptos Display"/>
                <a:cs typeface="Aptos Display"/>
              </a:rPr>
              <a:t>Gugu Agent</a:t>
            </a:r>
            <a:endParaRPr sz="1800" b="1">
              <a:solidFill>
                <a:srgbClr val="82F6A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439150" y="2800350"/>
            <a:ext cx="2667000" cy="19050"/>
          </a:xfrm>
          <a:prstGeom prst="rect">
            <a:avLst/>
          </a:prstGeom>
          <a:solidFill>
            <a:srgbClr val="82F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401050" y="30289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订阅入口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372600" y="3009900"/>
            <a:ext cx="171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DeepSeek V4</a:t>
            </a:r>
            <a:endParaRPr sz="900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9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本地 Agent</a:t>
            </a:r>
            <a:endParaRPr sz="900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90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人民币余额</a:t>
            </a:r>
            <a:endParaRPr sz="900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01050" y="36576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用量机制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372600" y="36385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余额 ¥96.62 → ¥96.55；完成同一俄罗斯方块任务消耗 ¥0.07。</a:t>
            </a:r>
            <a:endParaRPr sz="86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401050" y="4400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团队价值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72600" y="4381500"/>
            <a:ext cx="171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86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团队空间、共享 Skills、权限审计、飞书审批、项目记忆。</a:t>
            </a:r>
            <a:endParaRPr sz="86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401050" y="50101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4"/>
                </a:solidFill>
                <a:latin typeface="Aptos"/>
                <a:ea typeface="Aptos"/>
                <a:cs typeface="Aptos"/>
              </a:rPr>
              <a:t>商业含义</a:t>
            </a:r>
            <a:endParaRPr sz="825" b="1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372600" y="4991100"/>
            <a:ext cx="171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82F6A3"/>
                </a:solidFill>
                <a:latin typeface="Aptos"/>
                <a:ea typeface="Aptos"/>
                <a:cs typeface="Aptos"/>
              </a:rPr>
              <a:t>约 7 分人民币完成任务；成本透明、可控，适合高频交付。</a:t>
            </a:r>
            <a:endParaRPr sz="810" b="0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066800" y="5734050"/>
            <a:ext cx="9906000" cy="285750"/>
          </a:xfrm>
          <a:prstGeom prst="rect">
            <a:avLst/>
          </a:prstGeom>
          <a:solidFill>
            <a:srgbClr val="0A1D2F"/>
          </a:solidFill>
          <a:ln w="9525">
            <a:solidFill>
              <a:srgbClr val="1D3A56"/>
            </a:solidFill>
            <a:prstDash val="solid"/>
          </a:ln>
        </p:spPr>
        <p:txBody>
          <a:bodyPr lIns="190500" tIns="66675" rIns="190500" bIns="66675" anchor="t"/>
          <a:lstStyle/>
          <a:p>
            <a:pPr algn="ctr">
              <a:buNone/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Gugu 的机会：把低成本 token 变成可高频试错的交付能力，再把团队流程、权限审计和私有化变成收费产品。</a:t>
            </a:r>
            <a:endParaRPr sz="1275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47700" y="6134100"/>
            <a:ext cx="990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4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来源：用户本地 Cursor Included Usage 截图；Gugu 余额截图；按 $20/mo × 2.2% 折算。</a:t>
            </a:r>
            <a:endParaRPr sz="64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90550" y="6343650"/>
            <a:ext cx="11010900" cy="9525"/>
          </a:xfrm>
          <a:prstGeom prst="rect">
            <a:avLst/>
          </a:prstGeom>
          <a:solidFill>
            <a:srgbClr val="1D3A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4770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4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Gugu Agent · 商业差异化版 · 官方价格复核于 2026-05-17</a:t>
            </a:r>
            <a:endParaRPr sz="64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0763250" y="65151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4 / 8</a:t>
            </a:r>
            <a:endParaRPr sz="75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41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差异化竞争力</a:t>
            </a:r>
            <a:endParaRPr sz="975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39450" y="419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05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09575"/>
            <a:ext cx="19050" cy="342900"/>
          </a:xfrm>
          <a:prstGeom prst="rect">
            <a:avLst/>
          </a:prstGeom>
          <a:solidFill>
            <a:srgbClr val="6172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68100" y="4191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08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78105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不靠补全速度竞争，而靠交付现场建立壁垒</a:t>
            </a:r>
            <a:endParaRPr sz="285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46685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大厂 IDE 插件更适合日常编码；Gugu Agent 要占住复杂老项目、自动化交付、安全敏感项目和团队协作场景。</a:t>
            </a:r>
            <a:endParaRPr sz="142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247900"/>
            <a:ext cx="2857500" cy="1238250"/>
          </a:xfrm>
          <a:prstGeom prst="roundRect">
            <a:avLst>
              <a:gd name="adj" fmla="val 6154"/>
            </a:avLst>
          </a:prstGeom>
          <a:solidFill>
            <a:srgbClr val="0D2034"/>
          </a:solidFill>
          <a:ln w="9525">
            <a:solidFill>
              <a:srgbClr val="82F6A3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047750" y="2476500"/>
            <a:ext cx="133350" cy="133350"/>
          </a:xfrm>
          <a:prstGeom prst="ellipse">
            <a:avLst/>
          </a:prstGeom>
          <a:solidFill>
            <a:srgbClr val="82F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95400" y="2419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数据可控</a:t>
            </a:r>
            <a:endParaRPr sz="150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2800350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0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本地执行、开源可审计；敏感代码不过第三方黑盒。</a:t>
            </a:r>
            <a:endParaRPr sz="940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457700" y="2247900"/>
            <a:ext cx="2857500" cy="1238250"/>
          </a:xfrm>
          <a:prstGeom prst="roundRect">
            <a:avLst>
              <a:gd name="adj" fmla="val 6154"/>
            </a:avLst>
          </a:prstGeom>
          <a:solidFill>
            <a:srgbClr val="0D2034"/>
          </a:solidFill>
          <a:ln w="9525">
            <a:solidFill>
              <a:srgbClr val="4DB8FF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667250" y="2476500"/>
            <a:ext cx="133350" cy="133350"/>
          </a:xfrm>
          <a:prstGeom prst="ellipse">
            <a:avLst/>
          </a:prstGeom>
          <a:solidFill>
            <a:srgbClr val="4DB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914900" y="2419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CI / 服务器</a:t>
            </a:r>
            <a:endParaRPr sz="150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14900" y="2800350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0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CLI 原生进入流水线与服务器排障，覆盖 IDE 之外的现场。</a:t>
            </a:r>
            <a:endParaRPr sz="940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77200" y="2247900"/>
            <a:ext cx="2857500" cy="1238250"/>
          </a:xfrm>
          <a:prstGeom prst="roundRect">
            <a:avLst>
              <a:gd name="adj" fmla="val 6154"/>
            </a:avLst>
          </a:prstGeom>
          <a:solidFill>
            <a:srgbClr val="0D2034"/>
          </a:solidFill>
          <a:ln w="9525">
            <a:solidFill>
              <a:srgbClr val="4EF4D8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8286750" y="2476500"/>
            <a:ext cx="133350" cy="133350"/>
          </a:xfrm>
          <a:prstGeom prst="ellipse">
            <a:avLst/>
          </a:prstGeom>
          <a:solidFill>
            <a:srgbClr val="4EF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34400" y="2419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模型自由</a:t>
            </a:r>
            <a:endParaRPr sz="150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34400" y="2800350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0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DeepSeek / Qwen / Claude / GPT / Ollama 按任务切换。</a:t>
            </a:r>
            <a:endParaRPr sz="940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552700" y="4152900"/>
            <a:ext cx="2857500" cy="1238250"/>
          </a:xfrm>
          <a:prstGeom prst="roundRect">
            <a:avLst>
              <a:gd name="adj" fmla="val 6154"/>
            </a:avLst>
          </a:prstGeom>
          <a:solidFill>
            <a:srgbClr val="0D2034"/>
          </a:solidFill>
          <a:ln w="9525">
            <a:solidFill>
              <a:srgbClr val="A990FF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2762250" y="4381500"/>
            <a:ext cx="133350" cy="133350"/>
          </a:xfrm>
          <a:prstGeom prst="ellipse">
            <a:avLst/>
          </a:prstGeom>
          <a:solidFill>
            <a:srgbClr val="A99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009900" y="4324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团队记忆</a:t>
            </a:r>
            <a:endParaRPr sz="150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009900" y="4705350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0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Skills、项目记忆、模板和审批规则沉淀为团队资产。</a:t>
            </a:r>
            <a:endParaRPr sz="940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648450" y="4152900"/>
            <a:ext cx="2857500" cy="1238250"/>
          </a:xfrm>
          <a:prstGeom prst="roundRect">
            <a:avLst>
              <a:gd name="adj" fmla="val 6154"/>
            </a:avLst>
          </a:prstGeom>
          <a:solidFill>
            <a:srgbClr val="0D2034"/>
          </a:solidFill>
          <a:ln w="9525">
            <a:solidFill>
              <a:srgbClr val="FFBD59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6858000" y="4381500"/>
            <a:ext cx="133350" cy="133350"/>
          </a:xfrm>
          <a:prstGeom prst="ellipse">
            <a:avLst/>
          </a:prstGeom>
          <a:solidFill>
            <a:srgbClr val="FFBD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105650" y="4324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私有化交付</a:t>
            </a:r>
            <a:endParaRPr sz="150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105650" y="4705350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0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内网模型、权限审计、行业模板和 SLA，形成企业高客单。</a:t>
            </a:r>
            <a:endParaRPr sz="940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600200" y="5734050"/>
            <a:ext cx="899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2F6A3"/>
                </a:solidFill>
                <a:latin typeface="Aptos"/>
                <a:ea typeface="Aptos"/>
                <a:cs typeface="Aptos"/>
              </a:rPr>
              <a:t>竞争核心：把“模型能力”包装成团队可复用的交付能力，而不是再做一个聊天框或补全框。</a:t>
            </a:r>
            <a:endParaRPr sz="1275" b="1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90550" y="6343650"/>
            <a:ext cx="11010900" cy="9525"/>
          </a:xfrm>
          <a:prstGeom prst="rect">
            <a:avLst/>
          </a:prstGeom>
          <a:solidFill>
            <a:srgbClr val="1D3A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4770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4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Gugu Agent · 商业差异化版 · 官方价格复核于 2026-05-17</a:t>
            </a:r>
            <a:endParaRPr sz="64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763250" y="65151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5 / 8</a:t>
            </a:r>
            <a:endParaRPr sz="75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41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盈利飞轮</a:t>
            </a:r>
            <a:endParaRPr sz="975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39450" y="419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06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09575"/>
            <a:ext cx="19050" cy="342900"/>
          </a:xfrm>
          <a:prstGeom prst="rect">
            <a:avLst/>
          </a:prstGeom>
          <a:solidFill>
            <a:srgbClr val="6172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68100" y="4191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08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78105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Token 负责放量，工作流负责赚钱</a:t>
            </a:r>
            <a:endParaRPr sz="285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46685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不要把利润押在模型差价；真正可持续的利润来自可控交付、权限审计、私有化和团队流程资产。</a:t>
            </a:r>
            <a:endParaRPr sz="142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76300" y="2381250"/>
            <a:ext cx="1676400" cy="1104900"/>
          </a:xfrm>
          <a:prstGeom prst="roundRect">
            <a:avLst>
              <a:gd name="adj" fmla="val 6897"/>
            </a:avLst>
          </a:prstGeom>
          <a:solidFill>
            <a:srgbClr val="0D2034"/>
          </a:solidFill>
          <a:ln w="9525">
            <a:solidFill>
              <a:srgbClr val="82F6A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590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2F6A3"/>
                </a:solidFill>
                <a:latin typeface="Aptos"/>
                <a:ea typeface="Aptos"/>
                <a:cs typeface="Aptos"/>
              </a:rPr>
              <a:t>1</a:t>
            </a:r>
            <a:endParaRPr sz="1800" b="1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71600" y="25908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6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低成本调用</a:t>
            </a:r>
            <a:endParaRPr sz="1165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04900" y="29908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1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71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国产模型把试错成本打下来</a:t>
            </a:r>
            <a:endParaRPr sz="71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38425" y="2914650"/>
            <a:ext cx="361950" cy="19050"/>
          </a:xfrm>
          <a:prstGeom prst="rect">
            <a:avLst/>
          </a:prstGeom>
          <a:solidFill>
            <a:srgbClr val="82F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3086100" y="2381250"/>
            <a:ext cx="1676400" cy="1104900"/>
          </a:xfrm>
          <a:prstGeom prst="roundRect">
            <a:avLst>
              <a:gd name="adj" fmla="val 6897"/>
            </a:avLst>
          </a:prstGeom>
          <a:solidFill>
            <a:srgbClr val="0D2034"/>
          </a:solidFill>
          <a:ln w="9525">
            <a:solidFill>
              <a:srgbClr val="4DB8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257550" y="2590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4DB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DB8FF"/>
                </a:solidFill>
                <a:latin typeface="Aptos"/>
                <a:ea typeface="Aptos"/>
                <a:cs typeface="Aptos"/>
              </a:rPr>
              <a:t>2</a:t>
            </a:r>
            <a:endParaRPr sz="1800" b="1">
              <a:solidFill>
                <a:srgbClr val="4DB8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81400" y="25908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6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高频交付</a:t>
            </a:r>
            <a:endParaRPr sz="1165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14700" y="29908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1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71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更多调试、审查、测试、排障交给 Agent</a:t>
            </a:r>
            <a:endParaRPr sz="71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848225" y="2914650"/>
            <a:ext cx="361950" cy="19050"/>
          </a:xfrm>
          <a:prstGeom prst="rect">
            <a:avLst/>
          </a:prstGeom>
          <a:solidFill>
            <a:srgbClr val="4DB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5295900" y="2381250"/>
            <a:ext cx="1676400" cy="1104900"/>
          </a:xfrm>
          <a:prstGeom prst="roundRect">
            <a:avLst>
              <a:gd name="adj" fmla="val 6897"/>
            </a:avLst>
          </a:prstGeom>
          <a:solidFill>
            <a:srgbClr val="0D2034"/>
          </a:solidFill>
          <a:ln w="9525">
            <a:solidFill>
              <a:srgbClr val="4EF4D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467350" y="2590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3</a:t>
            </a:r>
            <a:endParaRPr sz="1800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791200" y="25908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6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工作流沉淀</a:t>
            </a:r>
            <a:endParaRPr sz="1165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524500" y="29908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1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71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Skills / 规则 / 记忆变成团队资产</a:t>
            </a:r>
            <a:endParaRPr sz="71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58025" y="2914650"/>
            <a:ext cx="361950" cy="19050"/>
          </a:xfrm>
          <a:prstGeom prst="rect">
            <a:avLst/>
          </a:prstGeom>
          <a:solidFill>
            <a:srgbClr val="4EF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7505700" y="2381250"/>
            <a:ext cx="1676400" cy="1104900"/>
          </a:xfrm>
          <a:prstGeom prst="roundRect">
            <a:avLst>
              <a:gd name="adj" fmla="val 6897"/>
            </a:avLst>
          </a:prstGeom>
          <a:solidFill>
            <a:srgbClr val="0D2034"/>
          </a:solidFill>
          <a:ln w="9525">
            <a:solidFill>
              <a:srgbClr val="A990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77150" y="2590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A990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990FF"/>
                </a:solidFill>
                <a:latin typeface="Aptos"/>
                <a:ea typeface="Aptos"/>
                <a:cs typeface="Aptos"/>
              </a:rPr>
              <a:t>4</a:t>
            </a:r>
            <a:endParaRPr sz="1800" b="1">
              <a:solidFill>
                <a:srgbClr val="A990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001000" y="25908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6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团队协作</a:t>
            </a:r>
            <a:endParaRPr sz="1165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734300" y="29908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1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71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共享模板、权限审计、IM 审批</a:t>
            </a:r>
            <a:endParaRPr sz="71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67825" y="2914650"/>
            <a:ext cx="361950" cy="19050"/>
          </a:xfrm>
          <a:prstGeom prst="rect">
            <a:avLst/>
          </a:prstGeom>
          <a:solidFill>
            <a:srgbClr val="A99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9715500" y="2381250"/>
            <a:ext cx="1676400" cy="1104900"/>
          </a:xfrm>
          <a:prstGeom prst="roundRect">
            <a:avLst>
              <a:gd name="adj" fmla="val 6897"/>
            </a:avLst>
          </a:prstGeom>
          <a:solidFill>
            <a:srgbClr val="0D2034"/>
          </a:solidFill>
          <a:ln w="9525">
            <a:solidFill>
              <a:srgbClr val="FFBD5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886950" y="2590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FFBD5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D59"/>
                </a:solidFill>
                <a:latin typeface="Aptos"/>
                <a:ea typeface="Aptos"/>
                <a:cs typeface="Aptos"/>
              </a:rPr>
              <a:t>5</a:t>
            </a:r>
            <a:endParaRPr sz="1800" b="1">
              <a:solidFill>
                <a:srgbClr val="FFBD5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210800" y="25908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6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企业交付包</a:t>
            </a:r>
            <a:endParaRPr sz="1165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944100" y="29908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1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71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私有化、内网模型、行业模板、SLA</a:t>
            </a:r>
            <a:endParaRPr sz="71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3429000" y="4171950"/>
            <a:ext cx="5334000" cy="1104900"/>
          </a:xfrm>
          <a:prstGeom prst="roundRect">
            <a:avLst>
              <a:gd name="adj" fmla="val 6897"/>
            </a:avLst>
          </a:prstGeom>
          <a:solidFill>
            <a:srgbClr val="0A1D2F"/>
          </a:solidFill>
          <a:ln w="9525">
            <a:solidFill>
              <a:srgbClr val="4EF4D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200650" y="4400550"/>
            <a:ext cx="1790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盈利逻辑</a:t>
            </a:r>
            <a:endParaRPr sz="1350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953000" y="4762500"/>
            <a:ext cx="2286000" cy="19050"/>
          </a:xfrm>
          <a:prstGeom prst="rect">
            <a:avLst/>
          </a:prstGeom>
          <a:solidFill>
            <a:srgbClr val="4EF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095750" y="49720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低成本只负责扩大使用面；Team / Enterprise 才是毛利来源。</a:t>
            </a:r>
            <a:endParaRPr sz="1050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66800" y="5810250"/>
            <a:ext cx="10058400" cy="285750"/>
          </a:xfrm>
          <a:prstGeom prst="rect">
            <a:avLst/>
          </a:prstGeom>
          <a:solidFill>
            <a:srgbClr val="0D2034"/>
          </a:solidFill>
          <a:ln w="9525">
            <a:solidFill>
              <a:srgbClr val="1D3A56"/>
            </a:solidFill>
            <a:prstDash val="solid"/>
          </a:ln>
        </p:spPr>
        <p:txBody>
          <a:bodyPr lIns="171450" tIns="66675" rIns="171450" bIns="66675" anchor="t"/>
          <a:lstStyle/>
          <a:p>
            <a:pPr algn="ctr">
              <a:buNone/>
              <a:defRPr sz="12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商业结论：补全工具容易被免费化；能进入交付链路、合规边界和团队审批的工作流才有长期收费能力。</a:t>
            </a:r>
            <a:endParaRPr sz="1200" b="1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90550" y="6343650"/>
            <a:ext cx="11010900" cy="9525"/>
          </a:xfrm>
          <a:prstGeom prst="rect">
            <a:avLst/>
          </a:prstGeom>
          <a:solidFill>
            <a:srgbClr val="1D3A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4770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4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Gugu Agent · 商业差异化版 · 官方价格复核于 2026-05-17</a:t>
            </a:r>
            <a:endParaRPr sz="64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0763250" y="65151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6 / 8</a:t>
            </a:r>
            <a:endParaRPr sz="75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41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商业模式</a:t>
            </a:r>
            <a:endParaRPr sz="975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39450" y="419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07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334750" y="409575"/>
            <a:ext cx="19050" cy="342900"/>
          </a:xfrm>
          <a:prstGeom prst="rect">
            <a:avLst/>
          </a:prstGeom>
          <a:solidFill>
            <a:srgbClr val="6172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68100" y="4191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1728A"/>
                </a:solidFill>
                <a:latin typeface="Aptos"/>
                <a:ea typeface="Aptos"/>
                <a:cs typeface="Aptos"/>
              </a:rPr>
              <a:t>08</a:t>
            </a:r>
            <a:endParaRPr sz="1350" b="1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78105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不写死套餐价，先把收费结构跑清楚</a:t>
            </a:r>
            <a:endParaRPr sz="2850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46685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投资/合伙讨论阶段先用测算模型讲清楚单位经济，最终定价留给产品验证。</a:t>
            </a:r>
            <a:endParaRPr sz="142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81050" y="2076450"/>
            <a:ext cx="2343150" cy="2857500"/>
          </a:xfrm>
          <a:prstGeom prst="roundRect">
            <a:avLst>
              <a:gd name="adj" fmla="val 3252"/>
            </a:avLst>
          </a:prstGeom>
          <a:solidFill>
            <a:srgbClr val="0D2034"/>
          </a:solidFill>
          <a:ln w="9525">
            <a:solidFill>
              <a:srgbClr val="82F6A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2362200"/>
            <a:ext cx="1924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个人 token 钱包</a:t>
            </a:r>
            <a:endParaRPr sz="1425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781300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2F6A3"/>
                </a:solidFill>
                <a:latin typeface="Aptos"/>
                <a:ea typeface="Aptos"/>
                <a:cs typeface="Aptos"/>
              </a:rPr>
              <a:t>低门槛试用</a:t>
            </a:r>
            <a:endParaRPr sz="825" b="1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76350" y="3200400"/>
            <a:ext cx="1352550" cy="19050"/>
          </a:xfrm>
          <a:prstGeom prst="rect">
            <a:avLst/>
          </a:prstGeom>
          <a:solidFill>
            <a:srgbClr val="82F6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85850" y="3524250"/>
            <a:ext cx="17335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国产模型透明计费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基础 CLI / 桌面端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基础 Skills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562350" y="2076450"/>
            <a:ext cx="2343150" cy="2857500"/>
          </a:xfrm>
          <a:prstGeom prst="roundRect">
            <a:avLst>
              <a:gd name="adj" fmla="val 3252"/>
            </a:avLst>
          </a:prstGeom>
          <a:solidFill>
            <a:srgbClr val="0D2034"/>
          </a:solidFill>
          <a:ln w="9525">
            <a:solidFill>
              <a:srgbClr val="4DB8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771900" y="2362200"/>
            <a:ext cx="1924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Pro 工作台</a:t>
            </a:r>
            <a:endParaRPr sz="1425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771900" y="2781300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4DB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DB8FF"/>
                </a:solidFill>
                <a:latin typeface="Aptos"/>
                <a:ea typeface="Aptos"/>
                <a:cs typeface="Aptos"/>
              </a:rPr>
              <a:t>专业交付者订阅</a:t>
            </a:r>
            <a:endParaRPr sz="825" b="1">
              <a:solidFill>
                <a:srgbClr val="4DB8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057650" y="3200400"/>
            <a:ext cx="1352550" cy="19050"/>
          </a:xfrm>
          <a:prstGeom prst="rect">
            <a:avLst/>
          </a:prstGeom>
          <a:solidFill>
            <a:srgbClr val="4DB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867150" y="3524250"/>
            <a:ext cx="17335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多模型管理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长任务 / 多会话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项目记忆 / 高级 Skills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343650" y="2076450"/>
            <a:ext cx="2343150" cy="2857500"/>
          </a:xfrm>
          <a:prstGeom prst="roundRect">
            <a:avLst>
              <a:gd name="adj" fmla="val 3252"/>
            </a:avLst>
          </a:prstGeom>
          <a:solidFill>
            <a:srgbClr val="0D2034"/>
          </a:solidFill>
          <a:ln w="9525">
            <a:solidFill>
              <a:srgbClr val="4EF4D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553200" y="2362200"/>
            <a:ext cx="1924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Team 版</a:t>
            </a:r>
            <a:endParaRPr sz="1425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53200" y="2781300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4EF4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EF4D8"/>
                </a:solidFill>
                <a:latin typeface="Aptos"/>
                <a:ea typeface="Aptos"/>
                <a:cs typeface="Aptos"/>
              </a:rPr>
              <a:t>主要增长收入</a:t>
            </a:r>
            <a:endParaRPr sz="825" b="1">
              <a:solidFill>
                <a:srgbClr val="4EF4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38950" y="3200400"/>
            <a:ext cx="1352550" cy="19050"/>
          </a:xfrm>
          <a:prstGeom prst="rect">
            <a:avLst/>
          </a:prstGeom>
          <a:solidFill>
            <a:srgbClr val="4EF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648450" y="3524250"/>
            <a:ext cx="17335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共享 token 池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团队空间 / 权限审计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飞书审批 / 共享模板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124950" y="2076450"/>
            <a:ext cx="2343150" cy="2857500"/>
          </a:xfrm>
          <a:prstGeom prst="roundRect">
            <a:avLst>
              <a:gd name="adj" fmla="val 3252"/>
            </a:avLst>
          </a:prstGeom>
          <a:solidFill>
            <a:srgbClr val="0D2034"/>
          </a:solidFill>
          <a:ln w="9525">
            <a:solidFill>
              <a:srgbClr val="A990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334500" y="2362200"/>
            <a:ext cx="1924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Enterprise</a:t>
            </a:r>
            <a:endParaRPr sz="1425" b="1">
              <a:solidFill>
                <a:srgbClr val="F7FB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334500" y="2781300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A990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90FF"/>
                </a:solidFill>
                <a:latin typeface="Aptos"/>
                <a:ea typeface="Aptos"/>
                <a:cs typeface="Aptos"/>
              </a:rPr>
              <a:t>高客单交付</a:t>
            </a:r>
            <a:endParaRPr sz="825" b="1">
              <a:solidFill>
                <a:srgbClr val="A990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620250" y="3200400"/>
            <a:ext cx="1352550" cy="19050"/>
          </a:xfrm>
          <a:prstGeom prst="rect">
            <a:avLst/>
          </a:prstGeom>
          <a:solidFill>
            <a:srgbClr val="A990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429750" y="3524250"/>
            <a:ext cx="17335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私有化部署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CI/CD 集成 / 内网模型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975" b="0">
                <a:solidFill>
                  <a:srgbClr val="9FB0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4"/>
                </a:solidFill>
                <a:latin typeface="Aptos"/>
                <a:ea typeface="Aptos"/>
                <a:cs typeface="Aptos"/>
              </a:rPr>
              <a:t>行业模板 / SLA</a:t>
            </a:r>
            <a:endParaRPr sz="975" b="0">
              <a:solidFill>
                <a:srgbClr val="9FB0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181100" y="5257800"/>
            <a:ext cx="9829800" cy="628650"/>
          </a:xfrm>
          <a:prstGeom prst="roundRect">
            <a:avLst>
              <a:gd name="adj" fmla="val 12121"/>
            </a:avLst>
          </a:prstGeom>
          <a:solidFill>
            <a:srgbClr val="0A1D2F"/>
          </a:solidFill>
          <a:ln w="9525">
            <a:solidFill>
              <a:srgbClr val="1D3A5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485900" y="54673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82F6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2F6A3"/>
                </a:solidFill>
                <a:latin typeface="Aptos"/>
                <a:ea typeface="Aptos"/>
                <a:cs typeface="Aptos"/>
              </a:rPr>
              <a:t>推荐收入组合</a:t>
            </a:r>
            <a:endParaRPr sz="1200" b="1">
              <a:solidFill>
                <a:srgbClr val="82F6A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200400" y="54673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席位订阅 + 团队权限/审计 + 私有化部署 + 行业工作流包 + 插件/Skills 市场 + 集成交付</a:t>
            </a:r>
            <a:endParaRPr sz="1125" b="0">
              <a:solidFill>
                <a:srgbClr val="F7F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90550" y="6343650"/>
            <a:ext cx="11010900" cy="9525"/>
          </a:xfrm>
          <a:prstGeom prst="rect">
            <a:avLst/>
          </a:prstGeom>
          <a:solidFill>
            <a:srgbClr val="1D3A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4770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4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Gugu Agent · 商业差异化版 · 官方价格复核于 2026-05-17</a:t>
            </a:r>
            <a:endParaRPr sz="64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763250" y="65151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617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1728A"/>
                </a:solidFill>
                <a:latin typeface="Aptos"/>
                <a:ea typeface="Aptos"/>
                <a:cs typeface="Aptos"/>
              </a:rPr>
              <a:t>7 / 8</a:t>
            </a:r>
            <a:endParaRPr sz="750" b="0">
              <a:solidFill>
                <a:srgbClr val="6172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35318" y="409575"/>
            <a:ext cx="11057853" cy="342900"/>
            <a:chOff x="635318" y="409575"/>
            <a:chExt cx="11057853" cy="342900"/>
          </a:xfrm>
        </p:grpSpPr>
        <p:sp>
          <p:nvSpPr>
            <p:cNvPr id="3" name="TextBox 3"/>
            <p:cNvSpPr txBox="1"/>
            <p:nvPr/>
          </p:nvSpPr>
          <p:spPr>
            <a:xfrm>
              <a:off x="635318" y="419100"/>
              <a:ext cx="8643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EF4D8"/>
                  </a:solidFill>
                  <a:latin typeface="Aptos"/>
                  <a:ea typeface="Microsoft YaHei"/>
                  <a:cs typeface="Aptos"/>
                </a:rPr>
                <a:t>产品 × 小龙虾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14429" y="419100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08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1334750" y="409575"/>
              <a:ext cx="19050" cy="342900"/>
            </a:xfrm>
            <a:prstGeom prst="rect">
              <a:avLst/>
            </a:prstGeom>
            <a:solidFill>
              <a:srgbClr val="61728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450955" y="419100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08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1505" y="781050"/>
            <a:ext cx="8966406" cy="975360"/>
            <a:chOff x="611505" y="781050"/>
            <a:chExt cx="8966406" cy="975360"/>
          </a:xfrm>
        </p:grpSpPr>
        <p:sp>
          <p:nvSpPr>
            <p:cNvPr id="8" name="TextBox 8"/>
            <p:cNvSpPr txBox="1"/>
            <p:nvPr/>
          </p:nvSpPr>
          <p:spPr>
            <a:xfrm>
              <a:off x="611505" y="781050"/>
              <a:ext cx="885148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像小龙虾一样：低成本只是入口，高频场景才赚钱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9602" y="1466850"/>
              <a:ext cx="89483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Gugu Agent 的 ¥0.07 和小龙虾的低原料门槛，本质都是放大复购频次；真正值钱的是场景、流程和沉淀。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04850" y="2076450"/>
            <a:ext cx="3276600" cy="3524250"/>
            <a:chOff x="704850" y="2076450"/>
            <a:chExt cx="3276600" cy="3524250"/>
          </a:xfrm>
        </p:grpSpPr>
        <p:sp>
          <p:nvSpPr>
            <p:cNvPr id="11" name="Rectangle 11"/>
            <p:cNvSpPr/>
            <p:nvPr/>
          </p:nvSpPr>
          <p:spPr>
            <a:xfrm>
              <a:off x="704850" y="2076450"/>
              <a:ext cx="3276600" cy="3524250"/>
            </a:xfrm>
            <a:prstGeom prst="roundRect">
              <a:avLst>
                <a:gd name="adj" fmla="val 2326"/>
              </a:avLst>
            </a:prstGeom>
            <a:solidFill>
              <a:srgbClr val="0D2034"/>
            </a:solidFill>
            <a:ln w="9525">
              <a:solidFill>
                <a:srgbClr val="82F6A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33450" y="2305050"/>
              <a:ext cx="457200" cy="285750"/>
            </a:xfrm>
            <a:prstGeom prst="roundRect">
              <a:avLst>
                <a:gd name="adj" fmla="val 16667"/>
              </a:avLst>
            </a:prstGeom>
            <a:solidFill>
              <a:srgbClr val="07111F"/>
            </a:solidFill>
            <a:ln w="9525">
              <a:solidFill>
                <a:srgbClr val="82F6A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318" y="23902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2F6A3"/>
                  </a:solidFill>
                  <a:latin typeface="Aptos"/>
                  <a:ea typeface="Microsoft YaHei"/>
                  <a:cs typeface="Aptos"/>
                </a:rPr>
                <a:t>&gt;_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58707" y="2305050"/>
              <a:ext cx="136888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2F6A3"/>
                  </a:solidFill>
                  <a:latin typeface="Aptos"/>
                  <a:ea typeface="Microsoft YaHei"/>
                  <a:cs typeface="Aptos"/>
                </a:rPr>
                <a:t>Gugu Agent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09650" y="2800350"/>
              <a:ext cx="2667000" cy="19050"/>
            </a:xfrm>
            <a:prstGeom prst="rect">
              <a:avLst/>
            </a:prstGeom>
            <a:solidFill>
              <a:srgbClr val="82F6A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1072" y="3028950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低成本调用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32146" y="3013948"/>
              <a:ext cx="1292816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¥0.07 让任务敢反复跑；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32146" y="3145393"/>
              <a:ext cx="174712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调试、审查、测试都能高频发生。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1072" y="3686175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交付闭环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32146" y="3671173"/>
              <a:ext cx="174712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读库、改码、运行、验证、回传，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2146" y="3802618"/>
              <a:ext cx="8270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围绕结果负责。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1072" y="4400550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团队资产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32146" y="4385548"/>
              <a:ext cx="146533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Skills、规则、记忆、审批，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32146" y="4516993"/>
              <a:ext cx="1057037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沉淀为可复用能力。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1072" y="5076825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收费点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32146" y="5061823"/>
              <a:ext cx="162635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82F6A3"/>
                  </a:solidFill>
                  <a:latin typeface="Aptos"/>
                  <a:ea typeface="Microsoft YaHei"/>
                  <a:cs typeface="Aptos"/>
                </a:rPr>
                <a:t>Team / Enterprise / 私有化，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32146" y="5193268"/>
              <a:ext cx="8270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82F6A3"/>
                  </a:solidFill>
                  <a:latin typeface="Aptos"/>
                  <a:ea typeface="Microsoft YaHei"/>
                  <a:cs typeface="Aptos"/>
                </a:rPr>
                <a:t>把流程变收入。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19600" y="2076450"/>
            <a:ext cx="3276600" cy="3524250"/>
            <a:chOff x="4419600" y="2076450"/>
            <a:chExt cx="3276600" cy="3524250"/>
          </a:xfrm>
        </p:grpSpPr>
        <p:sp>
          <p:nvSpPr>
            <p:cNvPr id="29" name="Rectangle 29"/>
            <p:cNvSpPr/>
            <p:nvPr/>
          </p:nvSpPr>
          <p:spPr>
            <a:xfrm>
              <a:off x="4419600" y="2076450"/>
              <a:ext cx="3276600" cy="3524250"/>
            </a:xfrm>
            <a:prstGeom prst="roundRect">
              <a:avLst>
                <a:gd name="adj" fmla="val 2326"/>
              </a:avLst>
            </a:prstGeom>
            <a:solidFill>
              <a:srgbClr val="0D2034"/>
            </a:solidFill>
            <a:ln w="9525">
              <a:solidFill>
                <a:srgbClr val="4EF4D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30977" y="230505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EF4D8"/>
                  </a:solidFill>
                  <a:latin typeface="Aptos"/>
                  <a:ea typeface="Microsoft YaHei"/>
                  <a:cs typeface="Aptos"/>
                </a:rPr>
                <a:t>共同公式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724400" y="2800350"/>
              <a:ext cx="2667000" cy="19050"/>
            </a:xfrm>
            <a:prstGeom prst="rect">
              <a:avLst/>
            </a:prstGeom>
            <a:solidFill>
              <a:srgbClr val="4EF4D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95850" y="3114675"/>
              <a:ext cx="2324100" cy="419100"/>
            </a:xfrm>
            <a:prstGeom prst="roundRect">
              <a:avLst>
                <a:gd name="adj" fmla="val 18182"/>
              </a:avLst>
            </a:prstGeom>
            <a:solidFill>
              <a:srgbClr val="07111F"/>
            </a:solidFill>
            <a:ln w="9525">
              <a:solidFill>
                <a:srgbClr val="4EF4D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59373" y="3203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低成本底座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73412" y="360330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×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895850" y="3933825"/>
              <a:ext cx="2324100" cy="419100"/>
            </a:xfrm>
            <a:prstGeom prst="roundRect">
              <a:avLst>
                <a:gd name="adj" fmla="val 18182"/>
              </a:avLst>
            </a:prstGeom>
            <a:solidFill>
              <a:srgbClr val="07111F"/>
            </a:solidFill>
            <a:ln w="9525">
              <a:solidFill>
                <a:srgbClr val="4DB8F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11017" y="4022408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高频消费 / 交付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73412" y="44224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895850" y="4752975"/>
              <a:ext cx="2324100" cy="419100"/>
            </a:xfrm>
            <a:prstGeom prst="roundRect">
              <a:avLst>
                <a:gd name="adj" fmla="val 18182"/>
              </a:avLst>
            </a:prstGeom>
            <a:solidFill>
              <a:srgbClr val="07111F"/>
            </a:solidFill>
            <a:ln w="9525">
              <a:solidFill>
                <a:srgbClr val="A990F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11017" y="4841558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团队 / 社交沉淀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9375" y="5333762"/>
              <a:ext cx="29770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38" b="1" dirty="0">
                  <a:solidFill>
                    <a:srgbClr val="4EF4D8"/>
                  </a:solidFill>
                  <a:latin typeface="Aptos"/>
                  <a:ea typeface="Microsoft YaHei"/>
                  <a:cs typeface="Aptos"/>
                </a:rPr>
                <a:t>低价不等于商业模式，复购场景才是。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134350" y="2076450"/>
            <a:ext cx="3276600" cy="3524250"/>
            <a:chOff x="8134350" y="2076450"/>
            <a:chExt cx="3276600" cy="3524250"/>
          </a:xfrm>
        </p:grpSpPr>
        <p:sp>
          <p:nvSpPr>
            <p:cNvPr id="42" name="Rectangle 42"/>
            <p:cNvSpPr/>
            <p:nvPr/>
          </p:nvSpPr>
          <p:spPr>
            <a:xfrm>
              <a:off x="8134350" y="2076450"/>
              <a:ext cx="3276600" cy="3524250"/>
            </a:xfrm>
            <a:prstGeom prst="roundRect">
              <a:avLst>
                <a:gd name="adj" fmla="val 2326"/>
              </a:avLst>
            </a:prstGeom>
            <a:solidFill>
              <a:srgbClr val="0D2034"/>
            </a:solidFill>
            <a:ln w="9525">
              <a:solidFill>
                <a:srgbClr val="FFBD59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467850" y="2295525"/>
              <a:ext cx="457200" cy="266700"/>
            </a:xfrm>
            <a:prstGeom prst="ellipse">
              <a:avLst/>
            </a:prstGeom>
            <a:solidFill>
              <a:srgbClr val="E97132"/>
            </a:solidFill>
            <a:ln w="9525">
              <a:solidFill>
                <a:srgbClr val="FFBD59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334500" y="2352675"/>
              <a:ext cx="190500" cy="152400"/>
            </a:xfrm>
            <a:prstGeom prst="ellipse">
              <a:avLst/>
            </a:prstGeom>
            <a:solidFill>
              <a:srgbClr val="E97132"/>
            </a:solidFill>
            <a:ln w="9525">
              <a:solidFill>
                <a:srgbClr val="FFBD59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867900" y="2352675"/>
              <a:ext cx="190500" cy="152400"/>
            </a:xfrm>
            <a:prstGeom prst="ellipse">
              <a:avLst/>
            </a:prstGeom>
            <a:solidFill>
              <a:srgbClr val="E97132"/>
            </a:solidFill>
            <a:ln w="9525">
              <a:solidFill>
                <a:srgbClr val="FFBD59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9191625" y="226695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190500" y="1143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BD59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10010775" y="226695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11430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FFBD59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058275" y="2190750"/>
              <a:ext cx="152400" cy="95250"/>
            </a:xfrm>
            <a:prstGeom prst="ellipse">
              <a:avLst/>
            </a:prstGeom>
            <a:solidFill>
              <a:srgbClr val="E97132"/>
            </a:solidFill>
            <a:ln w="9525">
              <a:solidFill>
                <a:srgbClr val="FFBD59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182225" y="2190750"/>
              <a:ext cx="152400" cy="95250"/>
            </a:xfrm>
            <a:prstGeom prst="ellipse">
              <a:avLst/>
            </a:prstGeom>
            <a:solidFill>
              <a:srgbClr val="E97132"/>
            </a:solidFill>
            <a:ln w="9525">
              <a:solidFill>
                <a:srgbClr val="FFBD5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71743" y="230505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BD59"/>
                  </a:solidFill>
                  <a:latin typeface="Aptos"/>
                  <a:ea typeface="Microsoft YaHei"/>
                  <a:cs typeface="Aptos"/>
                </a:rPr>
                <a:t>小龙虾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439150" y="2800350"/>
              <a:ext cx="2667000" cy="19050"/>
            </a:xfrm>
            <a:prstGeom prst="rect">
              <a:avLst/>
            </a:prstGeom>
            <a:solidFill>
              <a:srgbClr val="FFBD5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90572" y="3028950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低门槛尝鲜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61646" y="3013948"/>
              <a:ext cx="117205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几十元启动一桌夜宵；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61646" y="3145393"/>
              <a:ext cx="94202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决策轻，转化快。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90572" y="3686175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高频场景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61646" y="3671173"/>
              <a:ext cx="140208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夜宵、聚会、啤酒、外卖，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61646" y="3802618"/>
              <a:ext cx="8270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持续制造复购。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90572" y="4400550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供应链沉淀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61646" y="4385548"/>
              <a:ext cx="186213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口味、采购、门店履约和品牌记忆，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61646" y="4516993"/>
              <a:ext cx="59697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7FBFF"/>
                  </a:solidFill>
                  <a:latin typeface="Aptos"/>
                  <a:ea typeface="Microsoft YaHei"/>
                  <a:cs typeface="Aptos"/>
                </a:rPr>
                <a:t>形成壁垒。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90572" y="5076825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FB0C4"/>
                  </a:solidFill>
                  <a:latin typeface="Aptos"/>
                  <a:ea typeface="Microsoft YaHei"/>
                  <a:cs typeface="Aptos"/>
                </a:rPr>
                <a:t>利润来源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61646" y="5061823"/>
              <a:ext cx="140208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FBD59"/>
                  </a:solidFill>
                  <a:latin typeface="Aptos"/>
                  <a:ea typeface="Microsoft YaHei"/>
                  <a:cs typeface="Aptos"/>
                </a:rPr>
                <a:t>套餐、翻台、酒水、连锁，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61646" y="5193268"/>
              <a:ext cx="8270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FFBD59"/>
                  </a:solidFill>
                  <a:latin typeface="Aptos"/>
                  <a:ea typeface="Microsoft YaHei"/>
                  <a:cs typeface="Aptos"/>
                </a:rPr>
                <a:t>把场景变毛利。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930428" y="5738098"/>
            <a:ext cx="8331145" cy="251460"/>
            <a:chOff x="1930428" y="5738098"/>
            <a:chExt cx="8331145" cy="251460"/>
          </a:xfrm>
        </p:grpSpPr>
        <p:sp>
          <p:nvSpPr>
            <p:cNvPr id="65" name="TextBox 65"/>
            <p:cNvSpPr txBox="1"/>
            <p:nvPr/>
          </p:nvSpPr>
          <p:spPr>
            <a:xfrm>
              <a:off x="1930428" y="5738098"/>
              <a:ext cx="8331145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38" b="1" dirty="0">
                  <a:solidFill>
                    <a:srgbClr val="82F6A3"/>
                  </a:solidFill>
                  <a:latin typeface="Aptos"/>
                  <a:ea typeface="Microsoft YaHei"/>
                  <a:cs typeface="Aptos"/>
                </a:rPr>
                <a:t>判断：不要只看 token 单价，就像不能只看虾进价；能反复发生、被团队/社交绑定的场景，才是毛利所在。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90550" y="6343650"/>
            <a:ext cx="11010900" cy="323850"/>
            <a:chOff x="590550" y="6343650"/>
            <a:chExt cx="11010900" cy="323850"/>
          </a:xfrm>
        </p:grpSpPr>
        <p:sp>
          <p:nvSpPr>
            <p:cNvPr id="67" name="Rectangle 67"/>
            <p:cNvSpPr/>
            <p:nvPr/>
          </p:nvSpPr>
          <p:spPr>
            <a:xfrm>
              <a:off x="590550" y="6343650"/>
              <a:ext cx="11010900" cy="9525"/>
            </a:xfrm>
            <a:prstGeom prst="rect">
              <a:avLst/>
            </a:prstGeom>
            <a:solidFill>
              <a:srgbClr val="1D3A5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9575" y="6515095"/>
              <a:ext cx="1854694" cy="1299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40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Gugu Agent · 商业差异化版 · 小龙虾商业类比页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328797" y="6515100"/>
              <a:ext cx="24407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61728A"/>
                  </a:solidFill>
                  <a:latin typeface="Aptos"/>
                  <a:ea typeface="Microsoft YaHei"/>
                  <a:cs typeface="Aptos"/>
                </a:rPr>
                <a:t>8 / 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2948</Words>
  <Application>WPS 文字</Application>
  <PresentationFormat>Converted Presentation</PresentationFormat>
  <Paragraphs>330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Aptos Display</vt:lpstr>
      <vt:lpstr>Helvetica Neue</vt:lpstr>
      <vt:lpstr>Aptos</vt:lpstr>
      <vt:lpstr>微软雅黑</vt:lpstr>
      <vt:lpstr>汉仪旗黑</vt:lpstr>
      <vt:lpstr>Arial Unicode MS</vt:lpstr>
      <vt:lpstr>Calibri</vt:lpstr>
      <vt:lpstr>Aptos</vt:lpstr>
      <vt:lpstr>Aptos Display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韩文昊</cp:lastModifiedBy>
  <cp:revision>3</cp:revision>
  <dcterms:created xsi:type="dcterms:W3CDTF">2026-05-17T16:58:03Z</dcterms:created>
  <dcterms:modified xsi:type="dcterms:W3CDTF">2026-05-17T16:58:03Z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DE3EE23306961AC818EE096AC16A7687_42</vt:lpwstr>
  </property>
  <property fmtid="{D5CDD505-2E9C-101B-9397-08002B2CF9AE}" pid="3" name="KSOProductBuildVer">
    <vt:lpwstr>2052-12.1.25869.25869</vt:lpwstr>
  </property>
</Properties>
</file>