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这一页用一个更生活化的类比解释 Gugu Agent 的商业逻辑：小龙虾不是因为虾本身便宜才赚钱，而是因为它进入了夜宵、聚会、酒水和连锁供应链这些高频场景。Gugu Agent 也一样，低 token 成本只是入口，真正的价值来自高频交付、团队流程沉淀、权限审计和私有化交付。投资判断不是只看单次成本，而是看这个低成本底座能不能把一次任务变成可复用、可规模化、可收费的团队场景。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35318" y="409575"/>
            <a:ext cx="11057853" cy="342900"/>
            <a:chOff x="635318" y="409575"/>
            <a:chExt cx="11057853" cy="342900"/>
          </a:xfrm>
        </p:grpSpPr>
        <p:sp>
          <p:nvSpPr>
            <p:cNvPr id="3" name="TextBox 3"/>
            <p:cNvSpPr txBox="1"/>
            <p:nvPr/>
          </p:nvSpPr>
          <p:spPr>
            <a:xfrm>
              <a:off x="635318" y="419100"/>
              <a:ext cx="864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EF4D8"/>
                  </a:solidFill>
                  <a:latin typeface="Aptos"/>
                  <a:ea typeface="Microsoft YaHei"/>
                  <a:cs typeface="Aptos"/>
                </a:rPr>
                <a:t>产品 × 小龙虾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14429" y="419100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08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1334750" y="409575"/>
              <a:ext cx="19050" cy="342900"/>
            </a:xfrm>
            <a:prstGeom prst="rect">
              <a:avLst/>
            </a:prstGeom>
            <a:solidFill>
              <a:srgbClr val="61728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450955" y="419100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08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1505" y="781050"/>
            <a:ext cx="8966406" cy="975360"/>
            <a:chOff x="611505" y="781050"/>
            <a:chExt cx="8966406" cy="975360"/>
          </a:xfrm>
        </p:grpSpPr>
        <p:sp>
          <p:nvSpPr>
            <p:cNvPr id="8" name="TextBox 8"/>
            <p:cNvSpPr txBox="1"/>
            <p:nvPr/>
          </p:nvSpPr>
          <p:spPr>
            <a:xfrm>
              <a:off x="611505" y="781050"/>
              <a:ext cx="885148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像小龙虾一样：低成本只是入口，高频场景才赚钱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9602" y="1466850"/>
              <a:ext cx="89483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Gugu Agent 的 ¥0.07 和小龙虾的低原料门槛，本质都是放大复购频次；真正值钱的是场景、流程和沉淀。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" y="2076450"/>
            <a:ext cx="3276600" cy="3524250"/>
            <a:chOff x="704850" y="2076450"/>
            <a:chExt cx="3276600" cy="3524250"/>
          </a:xfrm>
        </p:grpSpPr>
        <p:sp>
          <p:nvSpPr>
            <p:cNvPr id="11" name="Rectangle 11"/>
            <p:cNvSpPr/>
            <p:nvPr/>
          </p:nvSpPr>
          <p:spPr>
            <a:xfrm>
              <a:off x="704850" y="2076450"/>
              <a:ext cx="3276600" cy="3524250"/>
            </a:xfrm>
            <a:prstGeom prst="roundRect">
              <a:avLst>
                <a:gd name="adj" fmla="val 2326"/>
              </a:avLst>
            </a:prstGeom>
            <a:solidFill>
              <a:srgbClr val="0D2034"/>
            </a:solidFill>
            <a:ln w="9525">
              <a:solidFill>
                <a:srgbClr val="82F6A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33450" y="2305050"/>
              <a:ext cx="457200" cy="285750"/>
            </a:xfrm>
            <a:prstGeom prst="roundRect">
              <a:avLst>
                <a:gd name="adj" fmla="val 16667"/>
              </a:avLst>
            </a:prstGeom>
            <a:solidFill>
              <a:srgbClr val="07111F"/>
            </a:solidFill>
            <a:ln w="9525">
              <a:solidFill>
                <a:srgbClr val="82F6A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318" y="23902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&gt;_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58707" y="2305050"/>
              <a:ext cx="13688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Gugu Agent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09650" y="2800350"/>
              <a:ext cx="2667000" cy="19050"/>
            </a:xfrm>
            <a:prstGeom prst="rect">
              <a:avLst/>
            </a:prstGeom>
            <a:solidFill>
              <a:srgbClr val="82F6A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1072" y="3028950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低成本调用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2146" y="3013948"/>
              <a:ext cx="1292816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¥0.07 让任务敢反复跑；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32146" y="3145393"/>
              <a:ext cx="174712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调试、审查、测试都能高频发生。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1072" y="3686175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交付闭环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32146" y="3671173"/>
              <a:ext cx="174712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读库、改码、运行、验证、回传，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2146" y="380261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围绕结果负责。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1072" y="4400550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团队资产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32146" y="4385548"/>
              <a:ext cx="146533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Skills、规则、记忆、审批，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32146" y="4516993"/>
              <a:ext cx="105703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沉淀为可复用能力。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1072" y="5076825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收费点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2146" y="5061823"/>
              <a:ext cx="162635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Team / Enterprise / 私有化，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32146" y="519326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把流程变收入。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19600" y="2076450"/>
            <a:ext cx="3276600" cy="3524250"/>
            <a:chOff x="4419600" y="2076450"/>
            <a:chExt cx="3276600" cy="3524250"/>
          </a:xfrm>
        </p:grpSpPr>
        <p:sp>
          <p:nvSpPr>
            <p:cNvPr id="29" name="Rectangle 29"/>
            <p:cNvSpPr/>
            <p:nvPr/>
          </p:nvSpPr>
          <p:spPr>
            <a:xfrm>
              <a:off x="4419600" y="2076450"/>
              <a:ext cx="3276600" cy="3524250"/>
            </a:xfrm>
            <a:prstGeom prst="roundRect">
              <a:avLst>
                <a:gd name="adj" fmla="val 2326"/>
              </a:avLst>
            </a:prstGeom>
            <a:solidFill>
              <a:srgbClr val="0D2034"/>
            </a:solidFill>
            <a:ln w="9525">
              <a:solidFill>
                <a:srgbClr val="4EF4D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30977" y="230505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EF4D8"/>
                  </a:solidFill>
                  <a:latin typeface="Aptos"/>
                  <a:ea typeface="Microsoft YaHei"/>
                  <a:cs typeface="Aptos"/>
                </a:rPr>
                <a:t>共同公式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24400" y="2800350"/>
              <a:ext cx="2667000" cy="19050"/>
            </a:xfrm>
            <a:prstGeom prst="rect">
              <a:avLst/>
            </a:prstGeom>
            <a:solidFill>
              <a:srgbClr val="4EF4D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95850" y="3114675"/>
              <a:ext cx="2324100" cy="419100"/>
            </a:xfrm>
            <a:prstGeom prst="roundRect">
              <a:avLst>
                <a:gd name="adj" fmla="val 18182"/>
              </a:avLst>
            </a:prstGeom>
            <a:solidFill>
              <a:srgbClr val="07111F"/>
            </a:solidFill>
            <a:ln w="9525">
              <a:solidFill>
                <a:srgbClr val="4EF4D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59373" y="3203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低成本底座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73412" y="360330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×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895850" y="3933825"/>
              <a:ext cx="2324100" cy="419100"/>
            </a:xfrm>
            <a:prstGeom prst="roundRect">
              <a:avLst>
                <a:gd name="adj" fmla="val 18182"/>
              </a:avLst>
            </a:prstGeom>
            <a:solidFill>
              <a:srgbClr val="07111F"/>
            </a:solidFill>
            <a:ln w="9525">
              <a:solidFill>
                <a:srgbClr val="4DB8F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11017" y="4022408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高频消费 / 交付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73412" y="44224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895850" y="4752975"/>
              <a:ext cx="2324100" cy="419100"/>
            </a:xfrm>
            <a:prstGeom prst="roundRect">
              <a:avLst>
                <a:gd name="adj" fmla="val 18182"/>
              </a:avLst>
            </a:prstGeom>
            <a:solidFill>
              <a:srgbClr val="07111F"/>
            </a:solidFill>
            <a:ln w="9525">
              <a:solidFill>
                <a:srgbClr val="A990F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11017" y="4841558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团队 / 社交沉淀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9375" y="5333762"/>
              <a:ext cx="29770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38" b="1" dirty="0">
                  <a:solidFill>
                    <a:srgbClr val="4EF4D8"/>
                  </a:solidFill>
                  <a:latin typeface="Aptos"/>
                  <a:ea typeface="Microsoft YaHei"/>
                  <a:cs typeface="Aptos"/>
                </a:rPr>
                <a:t>低价不等于商业模式，复购场景才是。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34350" y="2076450"/>
            <a:ext cx="3276600" cy="3524250"/>
            <a:chOff x="8134350" y="2076450"/>
            <a:chExt cx="3276600" cy="3524250"/>
          </a:xfrm>
        </p:grpSpPr>
        <p:sp>
          <p:nvSpPr>
            <p:cNvPr id="42" name="Rectangle 42"/>
            <p:cNvSpPr/>
            <p:nvPr/>
          </p:nvSpPr>
          <p:spPr>
            <a:xfrm>
              <a:off x="8134350" y="2076450"/>
              <a:ext cx="3276600" cy="3524250"/>
            </a:xfrm>
            <a:prstGeom prst="roundRect">
              <a:avLst>
                <a:gd name="adj" fmla="val 2326"/>
              </a:avLst>
            </a:prstGeom>
            <a:solidFill>
              <a:srgbClr val="0D2034"/>
            </a:solidFill>
            <a:ln w="9525">
              <a:solidFill>
                <a:srgbClr val="FFBD59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467850" y="2295525"/>
              <a:ext cx="457200" cy="26670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334500" y="2352675"/>
              <a:ext cx="190500" cy="15240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867900" y="2352675"/>
              <a:ext cx="190500" cy="15240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9191625" y="226695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190500" y="114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BD59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0010775" y="226695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11430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FFBD59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058275" y="2190750"/>
              <a:ext cx="152400" cy="9525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182225" y="2190750"/>
              <a:ext cx="152400" cy="9525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71743" y="230505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BD59"/>
                  </a:solidFill>
                  <a:latin typeface="Aptos"/>
                  <a:ea typeface="Microsoft YaHei"/>
                  <a:cs typeface="Aptos"/>
                </a:rPr>
                <a:t>小龙虾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439150" y="2800350"/>
              <a:ext cx="2667000" cy="19050"/>
            </a:xfrm>
            <a:prstGeom prst="rect">
              <a:avLst/>
            </a:prstGeom>
            <a:solidFill>
              <a:srgbClr val="FFBD5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90572" y="3028950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低门槛尝鲜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61646" y="3013948"/>
              <a:ext cx="117205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几十元启动一桌夜宵；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1646" y="3145393"/>
              <a:ext cx="94202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决策轻，转化快。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90572" y="3686175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高频场景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61646" y="3671173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夜宵、聚会、啤酒、外卖，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61646" y="380261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持续制造复购。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90572" y="4400550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供应链沉淀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61646" y="4385548"/>
              <a:ext cx="186213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口味、采购、门店履约和品牌记忆，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61646" y="4516993"/>
              <a:ext cx="59697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形成壁垒。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90572" y="5076825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利润来源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61646" y="5061823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FBD59"/>
                  </a:solidFill>
                  <a:latin typeface="Aptos"/>
                  <a:ea typeface="Microsoft YaHei"/>
                  <a:cs typeface="Aptos"/>
                </a:rPr>
                <a:t>套餐、翻台、酒水、连锁，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61646" y="519326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FBD59"/>
                  </a:solidFill>
                  <a:latin typeface="Aptos"/>
                  <a:ea typeface="Microsoft YaHei"/>
                  <a:cs typeface="Aptos"/>
                </a:rPr>
                <a:t>把场景变毛利。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930428" y="5738098"/>
            <a:ext cx="8331145" cy="251460"/>
            <a:chOff x="1930428" y="5738098"/>
            <a:chExt cx="8331145" cy="251460"/>
          </a:xfrm>
        </p:grpSpPr>
        <p:sp>
          <p:nvSpPr>
            <p:cNvPr id="65" name="TextBox 65"/>
            <p:cNvSpPr txBox="1"/>
            <p:nvPr/>
          </p:nvSpPr>
          <p:spPr>
            <a:xfrm>
              <a:off x="1930428" y="5738098"/>
              <a:ext cx="8331145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38" b="1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判断：不要只看 token 单价，就像不能只看虾进价；能反复发生、被团队/社交绑定的场景，才是毛利所在。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90550" y="6343650"/>
            <a:ext cx="11010900" cy="323850"/>
            <a:chOff x="590550" y="6343650"/>
            <a:chExt cx="11010900" cy="323850"/>
          </a:xfrm>
        </p:grpSpPr>
        <p:sp>
          <p:nvSpPr>
            <p:cNvPr id="67" name="Rectangle 67"/>
            <p:cNvSpPr/>
            <p:nvPr/>
          </p:nvSpPr>
          <p:spPr>
            <a:xfrm>
              <a:off x="590550" y="6343650"/>
              <a:ext cx="11010900" cy="9525"/>
            </a:xfrm>
            <a:prstGeom prst="rect">
              <a:avLst/>
            </a:prstGeom>
            <a:solidFill>
              <a:srgbClr val="1D3A5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9575" y="6515095"/>
              <a:ext cx="1854694" cy="129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0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Gugu Agent · 商业差异化版 · 小龙虾商业类比页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328797" y="6515100"/>
              <a:ext cx="2440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8 / 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