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这页先建立定位：Gugu Agent 不是另一个聊天界面，而是一个本地可运行、可接入多模型、能被桌面端和 IM 远程驱动的 Claude Code 工作台。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核心价值可以压缩成一句话：把 Claude Code 的能力从单一终端扩展成本地开发者控制台。它同时面向命令行、桌面端、远程消息和自动化场景。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这页讲用户为什么需要它：数据和执行在本地，模型接入不被单一供应商锁死，远程控制让 Agent 可以从手机或团队 IM 触达，多 Agent 能把复杂任务拆开并行推进。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架构上是三层：Tauri 主进程和 React UI 承载用户体验，Bun server sidecar 负责 HTTP/WebSocket 和会话管理，CLI 子进程是真正执行 AI 对话和工具调用的核心。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多 Agent 与 Skills 是系统可扩展性的中心。Agent 负责并行执行、团队协作和后台任务，Skills 用 Markdown 把经验和流程沉淀成可重复调用的能力。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桌面端把权限、Diff、提供商、定时任务、Skills 和 IM 适配器集中到可视化界面。IM 则让用户可以通过 Telegram 或飞书远程发起新会话、审批权限和接收结果。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Computer Use 的关键是用 Python Bridge 接管系统操作层，形成截图、模型识别、鼠标键盘执行、再截图确认的闭环。安全上通过应用授权、权限确认、并发保护和剪贴板保护降低风险。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最后落到路线：继续完善桌面端体验、插件与 Skills 生态、远程协作、release 流程和文档，让 Gugu Agent 从可运行走向可交付、可扩展、可被团队长期使用。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3143250"/>
              <a:ext cx="12192000" cy="3714750"/>
            </a:xfrm>
            <a:custGeom>
              <a:avLst/>
              <a:gdLst/>
              <a:ahLst/>
              <a:cxnLst/>
              <a:rect l="l" t="t" r="r" b="b"/>
              <a:pathLst>
                <a:path w="12192000" h="3714750">
                  <a:moveTo>
                    <a:pt x="0" y="1905000"/>
                  </a:moveTo>
                  <a:cubicBezTo>
                    <a:pt x="2000250" y="1285875"/>
                    <a:pt x="3143250" y="2667000"/>
                    <a:pt x="4953000" y="2047875"/>
                  </a:cubicBezTo>
                  <a:cubicBezTo>
                    <a:pt x="7000875" y="1352550"/>
                    <a:pt x="7953375" y="0"/>
                    <a:pt x="12192000" y="495300"/>
                  </a:cubicBezTo>
                  <a:lnTo>
                    <a:pt x="12192000" y="3714750"/>
                  </a:lnTo>
                  <a:lnTo>
                    <a:pt x="0" y="3714750"/>
                  </a:lnTo>
                  <a:close/>
                </a:path>
              </a:pathLst>
            </a:custGeom>
            <a:solidFill>
              <a:srgbClr val="D9E8F6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8286750" y="0"/>
              <a:ext cx="3905250" cy="2857500"/>
            </a:xfrm>
            <a:custGeom>
              <a:avLst/>
              <a:gdLst/>
              <a:ahLst/>
              <a:cxnLst/>
              <a:rect l="l" t="t" r="r" b="b"/>
              <a:pathLst>
                <a:path w="3905250" h="2857500">
                  <a:moveTo>
                    <a:pt x="0" y="0"/>
                  </a:moveTo>
                  <a:lnTo>
                    <a:pt x="3905250" y="0"/>
                  </a:lnTo>
                  <a:lnTo>
                    <a:pt x="3905250" y="2857500"/>
                  </a:lnTo>
                  <a:cubicBezTo>
                    <a:pt x="2571750" y="2686050"/>
                    <a:pt x="1762125" y="2047875"/>
                    <a:pt x="1333500" y="1238250"/>
                  </a:cubicBezTo>
                  <a:cubicBezTo>
                    <a:pt x="1047750" y="704850"/>
                    <a:pt x="571500" y="323850"/>
                    <a:pt x="0" y="0"/>
                  </a:cubicBezTo>
                  <a:close/>
                </a:path>
              </a:pathLst>
            </a:custGeom>
            <a:solidFill>
              <a:srgbClr val="E2EBD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533400"/>
              <a:ext cx="857250" cy="57150"/>
            </a:xfrm>
            <a:prstGeom prst="roundRect">
              <a:avLst>
                <a:gd name="adj" fmla="val 50000"/>
              </a:avLst>
            </a:prstGeom>
            <a:solidFill>
              <a:srgbClr val="8F482F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32460" y="1280160"/>
            <a:ext cx="7845981" cy="1601152"/>
            <a:chOff x="632460" y="1280160"/>
            <a:chExt cx="7845981" cy="1601152"/>
          </a:xfrm>
        </p:grpSpPr>
        <p:sp>
          <p:nvSpPr>
            <p:cNvPr id="8" name="TextBox 8"/>
            <p:cNvSpPr txBox="1"/>
            <p:nvPr/>
          </p:nvSpPr>
          <p:spPr>
            <a:xfrm>
              <a:off x="632460" y="1280160"/>
              <a:ext cx="348810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Gugu Agent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9130" y="1964055"/>
              <a:ext cx="368779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D628F"/>
                  </a:solidFill>
                  <a:latin typeface="Microsoft YaHei"/>
                  <a:ea typeface="Microsoft YaHei"/>
                  <a:cs typeface="Microsoft YaHei"/>
                </a:rPr>
                <a:t>本地可运行的 Claude Code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4845" y="2546032"/>
              <a:ext cx="78135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兼容多模型 · 桌面端 · 多 Agent · Skills · Computer Use · IM 远程控制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19900" y="1581150"/>
            <a:ext cx="4314825" cy="3171825"/>
            <a:chOff x="6819900" y="1581150"/>
            <a:chExt cx="4314825" cy="3171825"/>
          </a:xfrm>
        </p:grpSpPr>
        <p:sp>
          <p:nvSpPr>
            <p:cNvPr id="12" name="Ellipse 12"/>
            <p:cNvSpPr/>
            <p:nvPr/>
          </p:nvSpPr>
          <p:spPr>
            <a:xfrm>
              <a:off x="7696200" y="1676400"/>
              <a:ext cx="2476500" cy="2476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8DEE6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267700" y="2247900"/>
              <a:ext cx="1333500" cy="1333500"/>
            </a:xfrm>
            <a:prstGeom prst="ellipse">
              <a:avLst/>
            </a:prstGeom>
            <a:solidFill>
              <a:srgbClr val="F3E7DA"/>
            </a:solidFill>
            <a:ln w="28575">
              <a:solidFill>
                <a:srgbClr val="8F482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85740" y="2630805"/>
              <a:ext cx="6974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本地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52698" y="3000375"/>
              <a:ext cx="13635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Agent 控制台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819900" y="1581150"/>
              <a:ext cx="838200" cy="838200"/>
            </a:xfrm>
            <a:prstGeom prst="ellipse">
              <a:avLst/>
            </a:prstGeom>
            <a:solidFill>
              <a:srgbClr val="2D62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83838" y="1911668"/>
              <a:ext cx="3103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CLI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10296525" y="1790700"/>
              <a:ext cx="838200" cy="838200"/>
            </a:xfrm>
            <a:prstGeom prst="ellipse">
              <a:avLst/>
            </a:prstGeom>
            <a:solidFill>
              <a:srgbClr val="4F623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402729" y="2121218"/>
              <a:ext cx="625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桌面端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9725025" y="3914775"/>
              <a:ext cx="838200" cy="838200"/>
            </a:xfrm>
            <a:prstGeom prst="ellipse">
              <a:avLst/>
            </a:prstGeom>
            <a:solidFill>
              <a:srgbClr val="F4C95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023467" y="4245292"/>
              <a:ext cx="2413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IM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991350" y="3790950"/>
              <a:ext cx="838200" cy="838200"/>
            </a:xfrm>
            <a:prstGeom prst="ellipse">
              <a:avLst/>
            </a:prstGeom>
            <a:solidFill>
              <a:srgbClr val="C9886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41916" y="4121468"/>
              <a:ext cx="5370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Skills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648575" y="2152650"/>
              <a:ext cx="657225" cy="476250"/>
            </a:xfrm>
            <a:custGeom>
              <a:avLst/>
              <a:gdLst/>
              <a:ahLst/>
              <a:cxnLst/>
              <a:rect l="l" t="t" r="r" b="b"/>
              <a:pathLst>
                <a:path w="657225" h="476250">
                  <a:moveTo>
                    <a:pt x="0" y="0"/>
                  </a:moveTo>
                  <a:lnTo>
                    <a:pt x="657225" y="476250"/>
                  </a:lnTo>
                </a:path>
              </a:pathLst>
            </a:custGeom>
            <a:noFill/>
            <a:ln w="28575">
              <a:solidFill>
                <a:srgbClr val="D8DEE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525000" y="2381250"/>
              <a:ext cx="781050" cy="342900"/>
            </a:xfrm>
            <a:custGeom>
              <a:avLst/>
              <a:gdLst/>
              <a:ahLst/>
              <a:cxnLst/>
              <a:rect l="l" t="t" r="r" b="b"/>
              <a:pathLst>
                <a:path w="781050" h="342900">
                  <a:moveTo>
                    <a:pt x="781050" y="0"/>
                  </a:moveTo>
                  <a:lnTo>
                    <a:pt x="0" y="342900"/>
                  </a:lnTo>
                </a:path>
              </a:pathLst>
            </a:custGeom>
            <a:noFill/>
            <a:ln w="28575">
              <a:solidFill>
                <a:srgbClr val="D8DEE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9467850" y="3429000"/>
              <a:ext cx="419100" cy="590550"/>
            </a:xfrm>
            <a:custGeom>
              <a:avLst/>
              <a:gdLst/>
              <a:ahLst/>
              <a:cxnLst/>
              <a:rect l="l" t="t" r="r" b="b"/>
              <a:pathLst>
                <a:path w="419100" h="590550">
                  <a:moveTo>
                    <a:pt x="419100" y="5905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D8DEE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800975" y="3381375"/>
              <a:ext cx="619125" cy="619125"/>
            </a:xfrm>
            <a:custGeom>
              <a:avLst/>
              <a:gdLst/>
              <a:ahLst/>
              <a:cxnLst/>
              <a:rect l="l" t="t" r="r" b="b"/>
              <a:pathLst>
                <a:path w="619125" h="619125">
                  <a:moveTo>
                    <a:pt x="0" y="619125"/>
                  </a:moveTo>
                  <a:lnTo>
                    <a:pt x="619125" y="0"/>
                  </a:lnTo>
                </a:path>
              </a:pathLst>
            </a:custGeom>
            <a:noFill/>
            <a:ln w="28575">
              <a:solidFill>
                <a:srgbClr val="D8DEE6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670560" y="6309360"/>
            <a:ext cx="23789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产品与架构介绍 · 2026-05-16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9605" y="511492"/>
            <a:ext cx="4617768" cy="779146"/>
            <a:chOff x="649605" y="511492"/>
            <a:chExt cx="4617768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649605" y="511492"/>
              <a:ext cx="182060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产品定位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8655" y="1016318"/>
              <a:ext cx="4598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把 Claude Code 从单一终端扩展为本地开发者控制台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69425" cy="1162050"/>
            <a:chOff x="685800" y="1543050"/>
            <a:chExt cx="10869425" cy="1162050"/>
          </a:xfrm>
        </p:grpSpPr>
        <p:sp>
          <p:nvSpPr>
            <p:cNvPr id="6" name="Rectangle 6"/>
            <p:cNvSpPr/>
            <p:nvPr/>
          </p:nvSpPr>
          <p:spPr>
            <a:xfrm>
              <a:off x="685800" y="1543050"/>
              <a:ext cx="1082040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0130" y="1821180"/>
              <a:ext cx="10194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一句话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59330" y="1821180"/>
              <a:ext cx="92958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Gugu Agent 是面向本地、跨端、可扩展的 Claude Code 工作台。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66950" y="2257425"/>
              <a:ext cx="80014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它把模型接入、工具执行、桌面控制、远程消息与 Agent 编排放进同一条工作流。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76300" y="3238500"/>
            <a:ext cx="9906000" cy="1619250"/>
            <a:chOff x="876300" y="3238500"/>
            <a:chExt cx="99060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876300" y="3238500"/>
              <a:ext cx="2190750" cy="1619250"/>
            </a:xfrm>
            <a:prstGeom prst="roundRect">
              <a:avLst>
                <a:gd name="adj" fmla="val 4706"/>
              </a:avLst>
            </a:prstGeom>
            <a:solidFill>
              <a:srgbClr val="D9E8F6"/>
            </a:solidFill>
            <a:ln w="9525">
              <a:solidFill>
                <a:srgbClr val="2D628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9190" y="3482340"/>
              <a:ext cx="106704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3F5D"/>
                  </a:solidFill>
                  <a:latin typeface="Microsoft YaHei"/>
                  <a:ea typeface="Microsoft YaHei"/>
                  <a:cs typeface="Microsoft YaHei"/>
                </a:rPr>
                <a:t>完整 TUI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4905" y="3911918"/>
              <a:ext cx="17890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交互模式与 --print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4905" y="4197668"/>
              <a:ext cx="12468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面向脚本和 CI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48050" y="3238500"/>
              <a:ext cx="2190750" cy="1619250"/>
            </a:xfrm>
            <a:prstGeom prst="roundRect">
              <a:avLst>
                <a:gd name="adj" fmla="val 4706"/>
              </a:avLst>
            </a:prstGeom>
            <a:solidFill>
              <a:srgbClr val="F3E7DA"/>
            </a:solidFill>
            <a:ln w="9525">
              <a:solidFill>
                <a:srgbClr val="8F482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10940" y="3482340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多模型接入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16655" y="3911918"/>
              <a:ext cx="17496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Anthropic 兼容 API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16655" y="4197668"/>
              <a:ext cx="17890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OpenAI / Ollama 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19800" y="3238500"/>
              <a:ext cx="2190750" cy="1619250"/>
            </a:xfrm>
            <a:prstGeom prst="roundRect">
              <a:avLst>
                <a:gd name="adj" fmla="val 4706"/>
              </a:avLst>
            </a:prstGeom>
            <a:solidFill>
              <a:srgbClr val="E2EBDD"/>
            </a:solidFill>
            <a:ln w="9525">
              <a:solidFill>
                <a:srgbClr val="4F6237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2690" y="3482340"/>
              <a:ext cx="8738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F6237"/>
                  </a:solidFill>
                  <a:latin typeface="Microsoft YaHei"/>
                  <a:ea typeface="Microsoft YaHei"/>
                  <a:cs typeface="Microsoft YaHei"/>
                </a:rPr>
                <a:t>桌面端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88405" y="391191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多标签多会话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8405" y="4197668"/>
              <a:ext cx="17200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权限和 Diff 可视化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591550" y="3238500"/>
              <a:ext cx="2190750" cy="1619250"/>
            </a:xfrm>
            <a:prstGeom prst="roundRect">
              <a:avLst>
                <a:gd name="adj" fmla="val 4706"/>
              </a:avLst>
            </a:prstGeom>
            <a:solidFill>
              <a:srgbClr val="F4DAD4"/>
            </a:solidFill>
            <a:ln w="9525">
              <a:solidFill>
                <a:srgbClr val="C9886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54440" y="34823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远程控制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60155" y="3911918"/>
              <a:ext cx="15130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Telegram / 飞书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60155" y="419766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消息与权限中继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" y="5467350"/>
            <a:ext cx="10820400" cy="628650"/>
            <a:chOff x="685800" y="5467350"/>
            <a:chExt cx="10820400" cy="628650"/>
          </a:xfrm>
        </p:grpSpPr>
        <p:sp>
          <p:nvSpPr>
            <p:cNvPr id="28" name="Rectangle 28"/>
            <p:cNvSpPr/>
            <p:nvPr/>
          </p:nvSpPr>
          <p:spPr>
            <a:xfrm>
              <a:off x="685800" y="5467350"/>
              <a:ext cx="10820400" cy="628650"/>
            </a:xfrm>
            <a:prstGeom prst="roundRect">
              <a:avLst>
                <a:gd name="adj" fmla="val 12121"/>
              </a:avLst>
            </a:prstGeom>
            <a:solidFill>
              <a:srgbClr val="1D232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45845" y="56892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定位关键词：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17445" y="5689282"/>
              <a:ext cx="67050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本地优先 · 模型自由 · 跨端触达 · Agent 编排 · 可沉淀工作流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881360" y="63093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7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9605" y="511492"/>
            <a:ext cx="4893802" cy="779146"/>
            <a:chOff x="649605" y="511492"/>
            <a:chExt cx="4893802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649605" y="511492"/>
              <a:ext cx="356882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用户为什么需要它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8655" y="1016318"/>
              <a:ext cx="48747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不是替代编辑器，而是补齐“本地 AI 工程工作流”的缺口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1600200"/>
            <a:ext cx="11020139" cy="3390900"/>
            <a:chOff x="762000" y="1600200"/>
            <a:chExt cx="11020139" cy="3390900"/>
          </a:xfrm>
        </p:grpSpPr>
        <p:sp>
          <p:nvSpPr>
            <p:cNvPr id="6" name="Rectangle 6"/>
            <p:cNvSpPr/>
            <p:nvPr/>
          </p:nvSpPr>
          <p:spPr>
            <a:xfrm>
              <a:off x="762000" y="1600200"/>
              <a:ext cx="5143500" cy="1504950"/>
            </a:xfrm>
            <a:prstGeom prst="roundRect">
              <a:avLst>
                <a:gd name="adj" fmla="val 5063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866900"/>
              <a:ext cx="419100" cy="419100"/>
            </a:xfrm>
            <a:prstGeom prst="ellipse">
              <a:avLst/>
            </a:prstGeom>
            <a:solidFill>
              <a:srgbClr val="2D628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6596" y="1981200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94485" y="18278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本地执行更可控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01152" y="2246471"/>
              <a:ext cx="503110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文件、工具、桌面控制与会话状态围绕本地机器运行。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1152" y="2532221"/>
              <a:ext cx="41986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适合私有项目、长任务、半自动化开发场景。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600200"/>
              <a:ext cx="5143500" cy="1504950"/>
            </a:xfrm>
            <a:prstGeom prst="roundRect">
              <a:avLst>
                <a:gd name="adj" fmla="val 5063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515100" y="1866900"/>
              <a:ext cx="419100" cy="419100"/>
            </a:xfrm>
            <a:prstGeom prst="ellipse">
              <a:avLst/>
            </a:prstGeom>
            <a:solidFill>
              <a:srgbClr val="8F482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42342" y="19812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18985" y="18278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模型选择不被锁定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25652" y="2246471"/>
              <a:ext cx="42610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支持 Anthropic 兼容接口和多种第三方模型。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25652" y="2532221"/>
              <a:ext cx="336613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成本、速度、能力可以按任务切换。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486150"/>
              <a:ext cx="5143500" cy="1504950"/>
            </a:xfrm>
            <a:prstGeom prst="roundRect">
              <a:avLst>
                <a:gd name="adj" fmla="val 5063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990600" y="3752850"/>
              <a:ext cx="419100" cy="419100"/>
            </a:xfrm>
            <a:prstGeom prst="ellipse">
              <a:avLst/>
            </a:prstGeom>
            <a:solidFill>
              <a:srgbClr val="4F623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17842" y="38671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94485" y="3713798"/>
              <a:ext cx="27408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远程触达真实工作台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01152" y="4132421"/>
              <a:ext cx="457323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通过 Telegram / 飞书发消息、收结果、批权限。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01152" y="4418171"/>
              <a:ext cx="343897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离开电脑也能推动 Agent 继续工作。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86500" y="3486150"/>
              <a:ext cx="5143500" cy="1504950"/>
            </a:xfrm>
            <a:prstGeom prst="roundRect">
              <a:avLst>
                <a:gd name="adj" fmla="val 5063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515100" y="3752850"/>
              <a:ext cx="419100" cy="419100"/>
            </a:xfrm>
            <a:prstGeom prst="ellipse">
              <a:avLst/>
            </a:prstGeom>
            <a:solidFill>
              <a:srgbClr val="F4C95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42342" y="38671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8985" y="3713798"/>
              <a:ext cx="303990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复杂任务可以并行拆解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25652" y="4132421"/>
              <a:ext cx="465648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多 Agent、Teams、后台任务和 worktree 隔离。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25652" y="4418171"/>
              <a:ext cx="378237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适合调研、实现、验证、文档协同推进。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5467350"/>
            <a:ext cx="10668000" cy="609600"/>
            <a:chOff x="762000" y="5467350"/>
            <a:chExt cx="10668000" cy="609600"/>
          </a:xfrm>
        </p:grpSpPr>
        <p:sp>
          <p:nvSpPr>
            <p:cNvPr id="31" name="Rectangle 31"/>
            <p:cNvSpPr/>
            <p:nvPr/>
          </p:nvSpPr>
          <p:spPr>
            <a:xfrm>
              <a:off x="762000" y="5467350"/>
              <a:ext cx="10668000" cy="609600"/>
            </a:xfrm>
            <a:prstGeom prst="roundRect">
              <a:avLst>
                <a:gd name="adj" fmla="val 12500"/>
              </a:avLst>
            </a:prstGeom>
            <a:solidFill>
              <a:srgbClr val="D9E8F6"/>
            </a:solidFill>
            <a:ln w="9525">
              <a:solidFill>
                <a:srgbClr val="2D628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83945" y="5679758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83F5D"/>
                  </a:solidFill>
                  <a:latin typeface="Microsoft YaHei"/>
                  <a:ea typeface="Microsoft YaHei"/>
                  <a:cs typeface="Microsoft YaHei"/>
                </a:rPr>
                <a:t>结论：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88795" y="5679758"/>
              <a:ext cx="80425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Gugu Agent 的目标是让 AI 编程从“对话工具”升级为“本地工程执行系统”。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881360" y="63093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9605" y="511492"/>
            <a:ext cx="7220379" cy="779146"/>
            <a:chOff x="649605" y="511492"/>
            <a:chExt cx="7220379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649605" y="511492"/>
              <a:ext cx="706526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整体架构：桌面端到 CLI 的三层通信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8655" y="1016318"/>
              <a:ext cx="72013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React WebView 负责体验，Bun Sidecar 负责会话，CLI 子进程负责 AI 与工具执行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23950" y="1600200"/>
            <a:ext cx="9944100" cy="4191000"/>
            <a:chOff x="1123950" y="1600200"/>
            <a:chExt cx="9944100" cy="4191000"/>
          </a:xfrm>
        </p:grpSpPr>
        <p:sp>
          <p:nvSpPr>
            <p:cNvPr id="6" name="Rectangle 6"/>
            <p:cNvSpPr/>
            <p:nvPr/>
          </p:nvSpPr>
          <p:spPr>
            <a:xfrm>
              <a:off x="1123950" y="1600200"/>
              <a:ext cx="9944100" cy="11049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85888" y="1835944"/>
              <a:ext cx="407312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2D628F"/>
                  </a:solidFill>
                  <a:latin typeface="Microsoft YaHei"/>
                  <a:ea typeface="Microsoft YaHei"/>
                  <a:cs typeface="Microsoft YaHei"/>
                </a:rPr>
                <a:t>Tauri 主进程 + React WebView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2555" y="2254568"/>
              <a:ext cx="49930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窗口、原生桥接、桌面 UI、多标签、多会话、权限对话框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123950" y="3143250"/>
              <a:ext cx="9944100" cy="11049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85888" y="3378994"/>
              <a:ext cx="56977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Server Sidecar（Bun HTTP + WebSocket）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2555" y="3797618"/>
              <a:ext cx="64422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REST API、WebSocket 网关、会话管理、Provider 配置、CLI 子进程代理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23950" y="4686300"/>
              <a:ext cx="9944100" cy="11049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85888" y="4922044"/>
              <a:ext cx="316739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4F6237"/>
                  </a:solidFill>
                  <a:latin typeface="Microsoft YaHei"/>
                  <a:ea typeface="Microsoft YaHei"/>
                  <a:cs typeface="Microsoft YaHei"/>
                </a:rPr>
                <a:t>CLI 子进程 + 工具运行时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92555" y="5340668"/>
              <a:ext cx="66492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AI 对话核心、工具调用、MCP、Agent 编排、Computer Use Python Bridge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0" y="2705100"/>
            <a:ext cx="1524000" cy="1981200"/>
            <a:chOff x="5334000" y="2705100"/>
            <a:chExt cx="1524000" cy="1981200"/>
          </a:xfrm>
        </p:grpSpPr>
        <p:sp>
          <p:nvSpPr>
            <p:cNvPr id="16" name="Rectangle 16"/>
            <p:cNvSpPr/>
            <p:nvPr/>
          </p:nvSpPr>
          <p:spPr>
            <a:xfrm>
              <a:off x="5334000" y="2781300"/>
              <a:ext cx="1524000" cy="285750"/>
            </a:xfrm>
            <a:prstGeom prst="roundRect">
              <a:avLst>
                <a:gd name="adj" fmla="val 50000"/>
              </a:avLst>
            </a:prstGeom>
            <a:solidFill>
              <a:srgbClr val="D9E8F6"/>
            </a:solidFill>
            <a:ln w="9525">
              <a:solidFill>
                <a:srgbClr val="2D628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73280" y="2851785"/>
              <a:ext cx="8454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83F5D"/>
                  </a:solidFill>
                  <a:latin typeface="Microsoft YaHei"/>
                  <a:ea typeface="Microsoft YaHei"/>
                  <a:cs typeface="Microsoft YaHei"/>
                </a:rPr>
                <a:t>HTTP + WS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0" y="27051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28575">
              <a:solidFill>
                <a:srgbClr val="2D628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0" y="4324350"/>
              <a:ext cx="1524000" cy="285750"/>
            </a:xfrm>
            <a:prstGeom prst="roundRect">
              <a:avLst>
                <a:gd name="adj" fmla="val 50000"/>
              </a:avLst>
            </a:prstGeom>
            <a:solidFill>
              <a:srgbClr val="E2EBDD"/>
            </a:solidFill>
            <a:ln w="9525">
              <a:solidFill>
                <a:srgbClr val="4F6237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71732" y="4394835"/>
              <a:ext cx="12485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F6237"/>
                  </a:solidFill>
                  <a:latin typeface="Microsoft YaHei"/>
                  <a:ea typeface="Microsoft YaHei"/>
                  <a:cs typeface="Microsoft YaHei"/>
                </a:rPr>
                <a:t>stdin / stdout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0" y="42481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28575">
              <a:solidFill>
                <a:srgbClr val="4F6237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8115300" y="1981200"/>
            <a:ext cx="2286000" cy="3486150"/>
            <a:chOff x="8115300" y="1981200"/>
            <a:chExt cx="2286000" cy="3486150"/>
          </a:xfrm>
        </p:grpSpPr>
        <p:sp>
          <p:nvSpPr>
            <p:cNvPr id="23" name="Rectangle 23"/>
            <p:cNvSpPr/>
            <p:nvPr/>
          </p:nvSpPr>
          <p:spPr>
            <a:xfrm>
              <a:off x="8115300" y="1981200"/>
              <a:ext cx="2286000" cy="400050"/>
            </a:xfrm>
            <a:prstGeom prst="roundRect">
              <a:avLst>
                <a:gd name="adj" fmla="val 19048"/>
              </a:avLst>
            </a:prstGeom>
            <a:solidFill>
              <a:srgbClr val="F3E7DA"/>
            </a:solidFill>
            <a:ln w="9525">
              <a:solidFill>
                <a:srgbClr val="8F482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0529" y="2100739"/>
              <a:ext cx="14755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Adapter Sidecar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115300" y="3524250"/>
              <a:ext cx="2286000" cy="400050"/>
            </a:xfrm>
            <a:prstGeom prst="roundRect">
              <a:avLst>
                <a:gd name="adj" fmla="val 19048"/>
              </a:avLst>
            </a:prstGeom>
            <a:solidFill>
              <a:srgbClr val="F4DAD4"/>
            </a:solidFill>
            <a:ln w="9525">
              <a:solidFill>
                <a:srgbClr val="C9886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92597" y="3643789"/>
              <a:ext cx="15314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Provider / Proxy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115300" y="5067300"/>
              <a:ext cx="2286000" cy="400050"/>
            </a:xfrm>
            <a:prstGeom prst="roundRect">
              <a:avLst>
                <a:gd name="adj" fmla="val 19048"/>
              </a:avLst>
            </a:prstGeom>
            <a:solidFill>
              <a:srgbClr val="EEF1F5"/>
            </a:solidFill>
            <a:ln w="9525">
              <a:solidFill>
                <a:srgbClr val="D8DEE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08981" y="5186839"/>
              <a:ext cx="12986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MCP / Runtime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881360" y="63093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9605" y="511492"/>
            <a:ext cx="8026784" cy="779146"/>
            <a:chOff x="649605" y="511492"/>
            <a:chExt cx="8026784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649605" y="511492"/>
              <a:ext cx="802678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多 Agent 与 Skills：可扩展的工作流引擎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8655" y="1016318"/>
              <a:ext cx="56141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把复杂任务拆成可并行的执行单元，把经验沉淀成可复用的 Skill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1050" y="1524000"/>
            <a:ext cx="5295900" cy="3028950"/>
            <a:chOff x="781050" y="1524000"/>
            <a:chExt cx="5295900" cy="3028950"/>
          </a:xfrm>
        </p:grpSpPr>
        <p:sp>
          <p:nvSpPr>
            <p:cNvPr id="6" name="Rectangle 6"/>
            <p:cNvSpPr/>
            <p:nvPr/>
          </p:nvSpPr>
          <p:spPr>
            <a:xfrm>
              <a:off x="781050" y="1714500"/>
              <a:ext cx="238125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89845" y="1882140"/>
              <a:ext cx="11636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主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9768" y="2243614"/>
              <a:ext cx="13638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任务理解 / 调度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905250" y="1524000"/>
              <a:ext cx="2171700" cy="819150"/>
            </a:xfrm>
            <a:prstGeom prst="roundRect">
              <a:avLst>
                <a:gd name="adj" fmla="val 9302"/>
              </a:avLst>
            </a:prstGeom>
            <a:solidFill>
              <a:srgbClr val="D9E8F6"/>
            </a:solidFill>
            <a:ln w="9525">
              <a:solidFill>
                <a:srgbClr val="2D628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439731" y="1677829"/>
              <a:ext cx="110273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83F5D"/>
                  </a:solidFill>
                  <a:latin typeface="Microsoft YaHei"/>
                  <a:ea typeface="Microsoft YaHei"/>
                  <a:cs typeface="Microsoft YaHei"/>
                </a:rPr>
                <a:t>Subagent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62450" y="2004060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独立上下文执行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905250" y="2628900"/>
              <a:ext cx="2171700" cy="819150"/>
            </a:xfrm>
            <a:prstGeom prst="roundRect">
              <a:avLst>
                <a:gd name="adj" fmla="val 9302"/>
              </a:avLst>
            </a:prstGeom>
            <a:solidFill>
              <a:srgbClr val="F3E7DA"/>
            </a:solidFill>
            <a:ln w="9525">
              <a:solidFill>
                <a:srgbClr val="8F482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05414" y="2782729"/>
              <a:ext cx="57137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Fork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86416" y="3108960"/>
              <a:ext cx="18093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继承上下文 / 缓存命中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905250" y="3733800"/>
              <a:ext cx="2171700" cy="819150"/>
            </a:xfrm>
            <a:prstGeom prst="roundRect">
              <a:avLst>
                <a:gd name="adj" fmla="val 9302"/>
              </a:avLst>
            </a:prstGeom>
            <a:solidFill>
              <a:srgbClr val="E2EBDD"/>
            </a:solidFill>
            <a:ln w="9525">
              <a:solidFill>
                <a:srgbClr val="4F623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14840" y="3887629"/>
              <a:ext cx="75251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4F6237"/>
                  </a:solidFill>
                  <a:latin typeface="Microsoft YaHei"/>
                  <a:ea typeface="Microsoft YaHei"/>
                  <a:cs typeface="Microsoft YaHei"/>
                </a:rPr>
                <a:t>Teams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74046" y="4213860"/>
              <a:ext cx="16341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邮箱通信 / 权限同步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162300" y="1933575"/>
              <a:ext cx="742950" cy="219075"/>
            </a:xfrm>
            <a:custGeom>
              <a:avLst/>
              <a:gdLst/>
              <a:ahLst/>
              <a:cxnLst/>
              <a:rect l="l" t="t" r="r" b="b"/>
              <a:pathLst>
                <a:path w="742950" h="219075">
                  <a:moveTo>
                    <a:pt x="0" y="219075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2D628F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162300" y="2152650"/>
              <a:ext cx="742950" cy="885825"/>
            </a:xfrm>
            <a:custGeom>
              <a:avLst/>
              <a:gdLst/>
              <a:ahLst/>
              <a:cxnLst/>
              <a:rect l="l" t="t" r="r" b="b"/>
              <a:pathLst>
                <a:path w="742950" h="885825">
                  <a:moveTo>
                    <a:pt x="0" y="0"/>
                  </a:moveTo>
                  <a:lnTo>
                    <a:pt x="742950" y="885825"/>
                  </a:lnTo>
                </a:path>
              </a:pathLst>
            </a:custGeom>
            <a:noFill/>
            <a:ln w="28575">
              <a:solidFill>
                <a:srgbClr val="8F482F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162300" y="2152650"/>
              <a:ext cx="742950" cy="1990725"/>
            </a:xfrm>
            <a:custGeom>
              <a:avLst/>
              <a:gdLst/>
              <a:ahLst/>
              <a:cxnLst/>
              <a:rect l="l" t="t" r="r" b="b"/>
              <a:pathLst>
                <a:path w="742950" h="1990725">
                  <a:moveTo>
                    <a:pt x="0" y="0"/>
                  </a:moveTo>
                  <a:lnTo>
                    <a:pt x="742950" y="1990725"/>
                  </a:lnTo>
                </a:path>
              </a:pathLst>
            </a:custGeom>
            <a:noFill/>
            <a:ln w="28575">
              <a:solidFill>
                <a:srgbClr val="4F6237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896100" y="1581150"/>
            <a:ext cx="5874448" cy="3143250"/>
            <a:chOff x="6896100" y="1581150"/>
            <a:chExt cx="5874448" cy="3143250"/>
          </a:xfrm>
        </p:grpSpPr>
        <p:sp>
          <p:nvSpPr>
            <p:cNvPr id="22" name="Rectangle 22"/>
            <p:cNvSpPr/>
            <p:nvPr/>
          </p:nvSpPr>
          <p:spPr>
            <a:xfrm>
              <a:off x="6896100" y="1581150"/>
              <a:ext cx="4514850" cy="3143250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31380" y="1792605"/>
              <a:ext cx="161523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Skills 系统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9952" y="2227421"/>
              <a:ext cx="553059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用 Markdown 定义专门工作流，按场景自动进入专业模式。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258050" y="2781300"/>
              <a:ext cx="1695450" cy="514350"/>
            </a:xfrm>
            <a:prstGeom prst="roundRect">
              <a:avLst>
                <a:gd name="adj" fmla="val 14815"/>
              </a:avLst>
            </a:prstGeom>
            <a:solidFill>
              <a:srgbClr val="D9E8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54398" y="2967514"/>
              <a:ext cx="7027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183F5D"/>
                  </a:solidFill>
                  <a:latin typeface="Microsoft YaHei"/>
                  <a:ea typeface="Microsoft YaHei"/>
                  <a:cs typeface="Microsoft YaHei"/>
                </a:rPr>
                <a:t>Bundled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63050" y="2781300"/>
              <a:ext cx="1695450" cy="514350"/>
            </a:xfrm>
            <a:prstGeom prst="roundRect">
              <a:avLst>
                <a:gd name="adj" fmla="val 14815"/>
              </a:avLst>
            </a:prstGeom>
            <a:solidFill>
              <a:srgbClr val="F3E7D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59398" y="2967514"/>
              <a:ext cx="7027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Project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58050" y="3486150"/>
              <a:ext cx="1695450" cy="514350"/>
            </a:xfrm>
            <a:prstGeom prst="roundRect">
              <a:avLst>
                <a:gd name="adj" fmla="val 14815"/>
              </a:avLst>
            </a:prstGeom>
            <a:solidFill>
              <a:srgbClr val="E2EBD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28883" y="3672364"/>
              <a:ext cx="5537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4F6237"/>
                  </a:solidFill>
                  <a:latin typeface="Microsoft YaHei"/>
                  <a:ea typeface="Microsoft YaHei"/>
                  <a:cs typeface="Microsoft YaHei"/>
                </a:rPr>
                <a:t>Plugin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163050" y="3486150"/>
              <a:ext cx="1695450" cy="514350"/>
            </a:xfrm>
            <a:prstGeom prst="roundRect">
              <a:avLst>
                <a:gd name="adj" fmla="val 14815"/>
              </a:avLst>
            </a:prstGeom>
            <a:solidFill>
              <a:srgbClr val="F4DAD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822335" y="3672364"/>
              <a:ext cx="3768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MCP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40905" y="4273868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能力沉淀：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74355" y="4273868"/>
              <a:ext cx="41057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代码审查、调试、TDD、发布、上下文工程等。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81050" y="5334000"/>
            <a:ext cx="10629900" cy="590550"/>
            <a:chOff x="781050" y="5334000"/>
            <a:chExt cx="10629900" cy="590550"/>
          </a:xfrm>
        </p:grpSpPr>
        <p:sp>
          <p:nvSpPr>
            <p:cNvPr id="36" name="Rectangle 36"/>
            <p:cNvSpPr/>
            <p:nvPr/>
          </p:nvSpPr>
          <p:spPr>
            <a:xfrm>
              <a:off x="781050" y="5334000"/>
              <a:ext cx="10629900" cy="590550"/>
            </a:xfrm>
            <a:prstGeom prst="roundRect">
              <a:avLst>
                <a:gd name="adj" fmla="val 12903"/>
              </a:avLst>
            </a:prstGeom>
            <a:solidFill>
              <a:srgbClr val="1D232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42048" y="554497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关键能力：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89798" y="5544979"/>
              <a:ext cx="694086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并行探索、后台执行、团队协作、流程复用、记忆整合和隔离改动。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881360" y="63093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5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9605" y="511492"/>
            <a:ext cx="8245311" cy="779146"/>
            <a:chOff x="649605" y="511492"/>
            <a:chExt cx="8245311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649605" y="511492"/>
              <a:ext cx="82453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桌面端与 IM：把 Agent 放进日常工作入口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8655" y="1016318"/>
              <a:ext cx="55155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可视化管理本地会话，也能通过 Telegram / 飞书远程推进任务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38200" y="1619250"/>
            <a:ext cx="5238750" cy="3543300"/>
            <a:chOff x="838200" y="1619250"/>
            <a:chExt cx="5238750" cy="3543300"/>
          </a:xfrm>
        </p:grpSpPr>
        <p:sp>
          <p:nvSpPr>
            <p:cNvPr id="6" name="Rectangle 6"/>
            <p:cNvSpPr/>
            <p:nvPr/>
          </p:nvSpPr>
          <p:spPr>
            <a:xfrm>
              <a:off x="838200" y="1619250"/>
              <a:ext cx="5238750" cy="3543300"/>
            </a:xfrm>
            <a:prstGeom prst="roundRect">
              <a:avLst>
                <a:gd name="adj" fmla="val 2688"/>
              </a:avLst>
            </a:prstGeom>
            <a:solidFill>
              <a:srgbClr val="FFFFFF"/>
            </a:solidFill>
            <a:ln w="19050">
              <a:solidFill>
                <a:srgbClr val="D8DEE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38200" y="1619250"/>
              <a:ext cx="5238750" cy="438150"/>
            </a:xfrm>
            <a:prstGeom prst="roundRect">
              <a:avLst>
                <a:gd name="adj" fmla="val 21739"/>
              </a:avLst>
            </a:prstGeom>
            <a:solidFill>
              <a:srgbClr val="1D232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04900" y="1790700"/>
              <a:ext cx="114300" cy="114300"/>
            </a:xfrm>
            <a:prstGeom prst="ellipse">
              <a:avLst/>
            </a:prstGeom>
            <a:solidFill>
              <a:srgbClr val="F4DAD4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333500" y="1790700"/>
              <a:ext cx="114300" cy="114300"/>
            </a:xfrm>
            <a:prstGeom prst="ellipse">
              <a:avLst/>
            </a:prstGeom>
            <a:solidFill>
              <a:srgbClr val="F4C95D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562100" y="1790700"/>
              <a:ext cx="114300" cy="114300"/>
            </a:xfrm>
            <a:prstGeom prst="ellipse">
              <a:avLst/>
            </a:prstGeom>
            <a:solidFill>
              <a:srgbClr val="E2EBD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85010" y="1784985"/>
              <a:ext cx="16779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Gugu Agent Desktop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04900" y="2362200"/>
              <a:ext cx="1714500" cy="533400"/>
            </a:xfrm>
            <a:prstGeom prst="roundRect">
              <a:avLst>
                <a:gd name="adj" fmla="val 14286"/>
              </a:avLst>
            </a:prstGeom>
            <a:solidFill>
              <a:srgbClr val="D9E8F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52086" y="2549842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83F5D"/>
                  </a:solidFill>
                  <a:latin typeface="Microsoft YaHei"/>
                  <a:ea typeface="Microsoft YaHei"/>
                  <a:cs typeface="Microsoft YaHei"/>
                </a:rPr>
                <a:t>多标签会话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67050" y="2362200"/>
              <a:ext cx="1714500" cy="533400"/>
            </a:xfrm>
            <a:prstGeom prst="roundRect">
              <a:avLst>
                <a:gd name="adj" fmla="val 14286"/>
              </a:avLst>
            </a:prstGeom>
            <a:solidFill>
              <a:srgbClr val="F3E7D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12820" y="2549842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权限审批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04900" y="3124200"/>
              <a:ext cx="1714500" cy="533400"/>
            </a:xfrm>
            <a:prstGeom prst="roundRect">
              <a:avLst>
                <a:gd name="adj" fmla="val 14286"/>
              </a:avLst>
            </a:prstGeom>
            <a:solidFill>
              <a:srgbClr val="E2EBD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52086" y="3311842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F6237"/>
                  </a:solidFill>
                  <a:latin typeface="Microsoft YaHei"/>
                  <a:ea typeface="Microsoft YaHei"/>
                  <a:cs typeface="Microsoft YaHei"/>
                </a:rPr>
                <a:t>提供商管理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67050" y="3124200"/>
              <a:ext cx="1714500" cy="533400"/>
            </a:xfrm>
            <a:prstGeom prst="roundRect">
              <a:avLst>
                <a:gd name="adj" fmla="val 14286"/>
              </a:avLst>
            </a:prstGeom>
            <a:solidFill>
              <a:srgbClr val="F4DAD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17069" y="3311842"/>
              <a:ext cx="14144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Skills / Agents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04900" y="3886200"/>
              <a:ext cx="3676650" cy="704850"/>
            </a:xfrm>
            <a:prstGeom prst="roundRect">
              <a:avLst>
                <a:gd name="adj" fmla="val 10811"/>
              </a:avLst>
            </a:prstGeom>
            <a:solidFill>
              <a:srgbClr val="EEF1F5"/>
            </a:solidFill>
            <a:ln w="9525">
              <a:solidFill>
                <a:srgbClr val="D8DEE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16355" y="4026218"/>
              <a:ext cx="45198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Diff、工具调用、Markdown、Mermaid、定时任务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18260" y="4309110"/>
              <a:ext cx="35970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让本地 Agent 操作看得见、批得准、追得上。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381875" y="1524000"/>
            <a:ext cx="2952750" cy="4095750"/>
            <a:chOff x="7381875" y="1524000"/>
            <a:chExt cx="2952750" cy="4095750"/>
          </a:xfrm>
        </p:grpSpPr>
        <p:sp>
          <p:nvSpPr>
            <p:cNvPr id="24" name="Rectangle 24"/>
            <p:cNvSpPr/>
            <p:nvPr/>
          </p:nvSpPr>
          <p:spPr>
            <a:xfrm>
              <a:off x="7381875" y="1524000"/>
              <a:ext cx="2952750" cy="4095750"/>
            </a:xfrm>
            <a:prstGeom prst="roundRect">
              <a:avLst>
                <a:gd name="adj" fmla="val 11613"/>
              </a:avLst>
            </a:prstGeom>
            <a:solidFill>
              <a:srgbClr val="1D232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0" y="1962150"/>
              <a:ext cx="2476500" cy="3219450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48600" y="2266950"/>
              <a:ext cx="1695450" cy="438150"/>
            </a:xfrm>
            <a:prstGeom prst="roundRect">
              <a:avLst>
                <a:gd name="adj" fmla="val 26087"/>
              </a:avLst>
            </a:prstGeom>
            <a:solidFill>
              <a:srgbClr val="D9E8F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04810" y="2413635"/>
              <a:ext cx="12047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83F5D"/>
                  </a:solidFill>
                  <a:latin typeface="Microsoft YaHei"/>
                  <a:ea typeface="Microsoft YaHei"/>
                  <a:cs typeface="Microsoft YaHei"/>
                </a:rPr>
                <a:t>/new 项目路径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172450" y="2914650"/>
              <a:ext cx="1695450" cy="590550"/>
            </a:xfrm>
            <a:prstGeom prst="roundRect">
              <a:avLst>
                <a:gd name="adj" fmla="val 19355"/>
              </a:avLst>
            </a:prstGeom>
            <a:solidFill>
              <a:srgbClr val="F3E7D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9612" y="305038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请审批写文件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9612" y="3269456"/>
              <a:ext cx="8747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允许 / 拒绝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48600" y="3752850"/>
              <a:ext cx="1885950" cy="704850"/>
            </a:xfrm>
            <a:prstGeom prst="roundRect">
              <a:avLst>
                <a:gd name="adj" fmla="val 16216"/>
              </a:avLst>
            </a:prstGeom>
            <a:solidFill>
              <a:srgbClr val="E2EBD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05762" y="3907631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F6237"/>
                  </a:solidFill>
                  <a:latin typeface="Microsoft YaHei"/>
                  <a:ea typeface="Microsoft YaHei"/>
                  <a:cs typeface="Microsoft YaHei"/>
                </a:rPr>
                <a:t>任务完成：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05762" y="41457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F6237"/>
                  </a:solidFill>
                  <a:latin typeface="Microsoft YaHei"/>
                  <a:ea typeface="Microsoft YaHei"/>
                  <a:cs typeface="Microsoft YaHei"/>
                </a:rPr>
                <a:t>返回摘要和文件路径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8763000" y="5314950"/>
              <a:ext cx="190500" cy="190500"/>
            </a:xfrm>
            <a:prstGeom prst="ellipse">
              <a:avLst/>
            </a:prstGeom>
            <a:solidFill>
              <a:srgbClr val="667085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924431" y="3035618"/>
            <a:ext cx="1562338" cy="822007"/>
            <a:chOff x="5924431" y="3035618"/>
            <a:chExt cx="1562338" cy="822007"/>
          </a:xfrm>
        </p:grpSpPr>
        <p:sp>
          <p:nvSpPr>
            <p:cNvPr id="36" name="Line 36"/>
            <p:cNvSpPr/>
            <p:nvPr/>
          </p:nvSpPr>
          <p:spPr>
            <a:xfrm>
              <a:off x="6191250" y="34290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38100">
              <a:solidFill>
                <a:srgbClr val="2D628F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029450" y="331470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20955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D628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24431" y="3035618"/>
              <a:ext cx="15623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Adapter Sidecar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33135" y="3613785"/>
              <a:ext cx="13449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Telegram / 飞书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0881360" y="63093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5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9605" y="511492"/>
            <a:ext cx="7180945" cy="779146"/>
            <a:chOff x="649605" y="511492"/>
            <a:chExt cx="7180945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649605" y="511492"/>
              <a:ext cx="525148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Computer Use 与安全边界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8655" y="1016318"/>
              <a:ext cx="71618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用 Python Bridge 替代私有原生模块，让 macOS / Windows 都能跑桌面控制闭环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42900" y="1733550"/>
            <a:ext cx="6172200" cy="3429000"/>
            <a:chOff x="342900" y="1733550"/>
            <a:chExt cx="6172200" cy="3429000"/>
          </a:xfrm>
        </p:grpSpPr>
        <p:sp>
          <p:nvSpPr>
            <p:cNvPr id="6" name="Ellipse 6"/>
            <p:cNvSpPr/>
            <p:nvPr/>
          </p:nvSpPr>
          <p:spPr>
            <a:xfrm>
              <a:off x="1962150" y="1962150"/>
              <a:ext cx="2933700" cy="2933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8DEE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647950" y="1733550"/>
              <a:ext cx="1562100" cy="571500"/>
            </a:xfrm>
            <a:prstGeom prst="roundRect">
              <a:avLst>
                <a:gd name="adj" fmla="val 13333"/>
              </a:avLst>
            </a:prstGeom>
            <a:solidFill>
              <a:srgbClr val="D9E8F6"/>
            </a:solidFill>
            <a:ln w="9525">
              <a:solidFill>
                <a:srgbClr val="2D628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192375" y="1932146"/>
              <a:ext cx="47325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83F5D"/>
                  </a:solidFill>
                  <a:latin typeface="Microsoft YaHei"/>
                  <a:ea typeface="Microsoft YaHei"/>
                  <a:cs typeface="Microsoft YaHei"/>
                </a:rPr>
                <a:t>截图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953000" y="3162300"/>
              <a:ext cx="1562100" cy="571500"/>
            </a:xfrm>
            <a:prstGeom prst="roundRect">
              <a:avLst>
                <a:gd name="adj" fmla="val 13333"/>
              </a:avLst>
            </a:prstGeom>
            <a:solidFill>
              <a:srgbClr val="F3E7DA"/>
            </a:solidFill>
            <a:ln w="9525">
              <a:solidFill>
                <a:srgbClr val="8F482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78898" y="3360896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模型识别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647950" y="4591050"/>
              <a:ext cx="1562100" cy="571500"/>
            </a:xfrm>
            <a:prstGeom prst="roundRect">
              <a:avLst>
                <a:gd name="adj" fmla="val 13333"/>
              </a:avLst>
            </a:prstGeom>
            <a:solidFill>
              <a:srgbClr val="E2EBDD"/>
            </a:solidFill>
            <a:ln w="9525">
              <a:solidFill>
                <a:srgbClr val="4F623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973848" y="4789646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4F6237"/>
                  </a:solidFill>
                  <a:latin typeface="Microsoft YaHei"/>
                  <a:ea typeface="Microsoft YaHei"/>
                  <a:cs typeface="Microsoft YaHei"/>
                </a:rPr>
                <a:t>执行动作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2900" y="3162300"/>
              <a:ext cx="1562100" cy="571500"/>
            </a:xfrm>
            <a:prstGeom prst="roundRect">
              <a:avLst>
                <a:gd name="adj" fmla="val 13333"/>
              </a:avLst>
            </a:prstGeom>
            <a:solidFill>
              <a:srgbClr val="F4DAD4"/>
            </a:solidFill>
            <a:ln w="9525">
              <a:solidFill>
                <a:srgbClr val="C9886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8798" y="3360896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结果确认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3905250" y="2257425"/>
              <a:ext cx="1714500" cy="885825"/>
            </a:xfrm>
            <a:custGeom>
              <a:avLst/>
              <a:gdLst/>
              <a:ahLst/>
              <a:cxnLst/>
              <a:rect l="l" t="t" r="r" b="b"/>
              <a:pathLst>
                <a:path w="1714500" h="885825">
                  <a:moveTo>
                    <a:pt x="0" y="0"/>
                  </a:moveTo>
                  <a:cubicBezTo>
                    <a:pt x="857250" y="180975"/>
                    <a:pt x="1381125" y="466725"/>
                    <a:pt x="1714500" y="885825"/>
                  </a:cubicBezTo>
                </a:path>
              </a:pathLst>
            </a:custGeom>
            <a:noFill/>
            <a:ln w="38100">
              <a:solidFill>
                <a:srgbClr val="2D628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210050" y="3733800"/>
              <a:ext cx="1428750" cy="1095375"/>
            </a:xfrm>
            <a:custGeom>
              <a:avLst/>
              <a:gdLst/>
              <a:ahLst/>
              <a:cxnLst/>
              <a:rect l="l" t="t" r="r" b="b"/>
              <a:pathLst>
                <a:path w="1428750" h="1095375">
                  <a:moveTo>
                    <a:pt x="1428750" y="0"/>
                  </a:moveTo>
                  <a:cubicBezTo>
                    <a:pt x="1123950" y="552450"/>
                    <a:pt x="647700" y="914400"/>
                    <a:pt x="0" y="1095375"/>
                  </a:cubicBezTo>
                </a:path>
              </a:pathLst>
            </a:custGeom>
            <a:noFill/>
            <a:ln w="38100">
              <a:solidFill>
                <a:srgbClr val="8F482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219200" y="3752850"/>
              <a:ext cx="1428750" cy="1123950"/>
            </a:xfrm>
            <a:custGeom>
              <a:avLst/>
              <a:gdLst/>
              <a:ahLst/>
              <a:cxnLst/>
              <a:rect l="l" t="t" r="r" b="b"/>
              <a:pathLst>
                <a:path w="1428750" h="1123950">
                  <a:moveTo>
                    <a:pt x="1428750" y="1123950"/>
                  </a:moveTo>
                  <a:cubicBezTo>
                    <a:pt x="781050" y="952500"/>
                    <a:pt x="304800" y="571500"/>
                    <a:pt x="0" y="0"/>
                  </a:cubicBezTo>
                </a:path>
              </a:pathLst>
            </a:custGeom>
            <a:noFill/>
            <a:ln w="38100">
              <a:solidFill>
                <a:srgbClr val="4F62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200150" y="2114550"/>
              <a:ext cx="1447800" cy="1047750"/>
            </a:xfrm>
            <a:custGeom>
              <a:avLst/>
              <a:gdLst/>
              <a:ahLst/>
              <a:cxnLst/>
              <a:rect l="l" t="t" r="r" b="b"/>
              <a:pathLst>
                <a:path w="1447800" h="1047750">
                  <a:moveTo>
                    <a:pt x="0" y="1047750"/>
                  </a:moveTo>
                  <a:cubicBezTo>
                    <a:pt x="323850" y="514350"/>
                    <a:pt x="847725" y="209550"/>
                    <a:pt x="1447800" y="0"/>
                  </a:cubicBezTo>
                </a:path>
              </a:pathLst>
            </a:custGeom>
            <a:noFill/>
            <a:ln w="38100">
              <a:solidFill>
                <a:srgbClr val="C9886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47045" y="3177540"/>
              <a:ext cx="15639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Screenshot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09278" y="348234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Analyze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78412" y="3787140"/>
              <a:ext cx="5011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Act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39000" y="1676400"/>
            <a:ext cx="4000500" cy="3733800"/>
            <a:chOff x="7239000" y="1676400"/>
            <a:chExt cx="4000500" cy="3733800"/>
          </a:xfrm>
        </p:grpSpPr>
        <p:sp>
          <p:nvSpPr>
            <p:cNvPr id="23" name="Rectangle 23"/>
            <p:cNvSpPr/>
            <p:nvPr/>
          </p:nvSpPr>
          <p:spPr>
            <a:xfrm>
              <a:off x="7239000" y="1676400"/>
              <a:ext cx="4000500" cy="3733800"/>
            </a:xfrm>
            <a:prstGeom prst="roundRect">
              <a:avLst>
                <a:gd name="adj" fmla="val 2041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93330" y="1887855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安全机制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0" y="2476500"/>
              <a:ext cx="3143250" cy="495300"/>
            </a:xfrm>
            <a:prstGeom prst="roundRect">
              <a:avLst>
                <a:gd name="adj" fmla="val 15385"/>
              </a:avLst>
            </a:prstGeom>
            <a:solidFill>
              <a:srgbClr val="D9E8F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50505" y="2645092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83F5D"/>
                  </a:solidFill>
                  <a:latin typeface="Microsoft YaHei"/>
                  <a:ea typeface="Microsoft YaHei"/>
                  <a:cs typeface="Microsoft YaHei"/>
                </a:rPr>
                <a:t>应用白名单与会话授权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0" y="3143250"/>
              <a:ext cx="3143250" cy="495300"/>
            </a:xfrm>
            <a:prstGeom prst="roundRect">
              <a:avLst>
                <a:gd name="adj" fmla="val 15385"/>
              </a:avLst>
            </a:prstGeom>
            <a:solidFill>
              <a:srgbClr val="F3E7D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50505" y="3311842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敏感操作权限确认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0" y="3810000"/>
              <a:ext cx="3143250" cy="495300"/>
            </a:xfrm>
            <a:prstGeom prst="roundRect">
              <a:avLst>
                <a:gd name="adj" fmla="val 15385"/>
              </a:avLst>
            </a:prstGeom>
            <a:solidFill>
              <a:srgbClr val="E2EBD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50505" y="3978592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F6237"/>
                  </a:solidFill>
                  <a:latin typeface="Microsoft YaHei"/>
                  <a:ea typeface="Microsoft YaHei"/>
                  <a:cs typeface="Microsoft YaHei"/>
                </a:rPr>
                <a:t>同一时间只允许一个控制会话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0" y="4476750"/>
              <a:ext cx="3143250" cy="495300"/>
            </a:xfrm>
            <a:prstGeom prst="roundRect">
              <a:avLst>
                <a:gd name="adj" fmla="val 15385"/>
              </a:avLst>
            </a:prstGeom>
            <a:solidFill>
              <a:srgbClr val="F4DAD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50505" y="4645342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剪贴板自动保存与恢复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239000" y="5676900"/>
            <a:ext cx="4000500" cy="438150"/>
            <a:chOff x="7239000" y="5676900"/>
            <a:chExt cx="4000500" cy="438150"/>
          </a:xfrm>
        </p:grpSpPr>
        <p:sp>
          <p:nvSpPr>
            <p:cNvPr id="34" name="Rectangle 34"/>
            <p:cNvSpPr/>
            <p:nvPr/>
          </p:nvSpPr>
          <p:spPr>
            <a:xfrm>
              <a:off x="7239000" y="5676900"/>
              <a:ext cx="1885950" cy="438150"/>
            </a:xfrm>
            <a:prstGeom prst="roundRect">
              <a:avLst>
                <a:gd name="adj" fmla="val 17391"/>
              </a:avLst>
            </a:prstGeom>
            <a:solidFill>
              <a:srgbClr val="1D232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7549" y="5807392"/>
              <a:ext cx="11088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macOS 支持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353550" y="5676900"/>
              <a:ext cx="1885950" cy="438150"/>
            </a:xfrm>
            <a:prstGeom prst="roundRect">
              <a:avLst>
                <a:gd name="adj" fmla="val 17391"/>
              </a:avLst>
            </a:prstGeom>
            <a:solidFill>
              <a:srgbClr val="1D232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658302" y="58073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Windows 支持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881360" y="63093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3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9605" y="511492"/>
            <a:ext cx="7065264" cy="779146"/>
            <a:chOff x="649605" y="511492"/>
            <a:chExt cx="7065264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649605" y="511492"/>
              <a:ext cx="706526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下一步：从可运行到可交付、可扩展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8655" y="1016318"/>
              <a:ext cx="3977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围绕稳定性、体验、生态和发布流程持续收敛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3450" y="1866900"/>
            <a:ext cx="10105240" cy="2990850"/>
            <a:chOff x="933450" y="1866900"/>
            <a:chExt cx="10105240" cy="2990850"/>
          </a:xfrm>
        </p:grpSpPr>
        <p:sp>
          <p:nvSpPr>
            <p:cNvPr id="6" name="Line 6"/>
            <p:cNvSpPr/>
            <p:nvPr/>
          </p:nvSpPr>
          <p:spPr>
            <a:xfrm>
              <a:off x="1352550" y="3314700"/>
              <a:ext cx="9486900" cy="9525"/>
            </a:xfrm>
            <a:custGeom>
              <a:avLst/>
              <a:gdLst/>
              <a:ahLst/>
              <a:cxnLst/>
              <a:rect l="l" t="t" r="r" b="b"/>
              <a:pathLst>
                <a:path w="9486900" h="9525">
                  <a:moveTo>
                    <a:pt x="0" y="0"/>
                  </a:moveTo>
                  <a:lnTo>
                    <a:pt x="9486900" y="0"/>
                  </a:lnTo>
                </a:path>
              </a:pathLst>
            </a:custGeom>
            <a:noFill/>
            <a:ln w="76200">
              <a:solidFill>
                <a:srgbClr val="D8DEE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714500" y="3067050"/>
              <a:ext cx="495300" cy="495300"/>
            </a:xfrm>
            <a:prstGeom prst="ellipse">
              <a:avLst/>
            </a:prstGeom>
            <a:solidFill>
              <a:srgbClr val="2D628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191000" y="3067050"/>
              <a:ext cx="495300" cy="495300"/>
            </a:xfrm>
            <a:prstGeom prst="ellipse">
              <a:avLst/>
            </a:prstGeom>
            <a:solidFill>
              <a:srgbClr val="8F482F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667500" y="3067050"/>
              <a:ext cx="495300" cy="495300"/>
            </a:xfrm>
            <a:prstGeom prst="ellipse">
              <a:avLst/>
            </a:prstGeom>
            <a:solidFill>
              <a:srgbClr val="4F6237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144000" y="3067050"/>
              <a:ext cx="495300" cy="495300"/>
            </a:xfrm>
            <a:prstGeom prst="ellipse">
              <a:avLst/>
            </a:prstGeom>
            <a:solidFill>
              <a:srgbClr val="F4C95D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33450" y="1866900"/>
              <a:ext cx="207645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9195" y="20697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83F5D"/>
                  </a:solidFill>
                  <a:latin typeface="Microsoft YaHei"/>
                  <a:ea typeface="Microsoft YaHei"/>
                  <a:cs typeface="Microsoft YaHei"/>
                </a:rPr>
                <a:t>体验打磨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958" y="2453164"/>
              <a:ext cx="24438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桌面端、多标签、权限、Diff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09950" y="3714750"/>
              <a:ext cx="207645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55695" y="39176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F482F"/>
                  </a:solidFill>
                  <a:latin typeface="Microsoft YaHei"/>
                  <a:ea typeface="Microsoft YaHei"/>
                  <a:cs typeface="Microsoft YaHei"/>
                </a:rPr>
                <a:t>生态扩展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60458" y="4301014"/>
              <a:ext cx="21552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插件、Skills、MCP、模板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886450" y="1866900"/>
              <a:ext cx="2076450" cy="104775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132195" y="20697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F6237"/>
                  </a:solidFill>
                  <a:latin typeface="Microsoft YaHei"/>
                  <a:ea typeface="Microsoft YaHei"/>
                  <a:cs typeface="Microsoft YaHei"/>
                </a:rPr>
                <a:t>协作增强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36958" y="24531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Teams、IM、后台任务、记忆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62950" y="3714750"/>
              <a:ext cx="207645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08695" y="39176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329"/>
                  </a:solidFill>
                  <a:latin typeface="Microsoft YaHei"/>
                  <a:ea typeface="Microsoft YaHei"/>
                  <a:cs typeface="Microsoft YaHei"/>
                </a:rPr>
                <a:t>发布闭环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13458" y="4301014"/>
              <a:ext cx="24252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桌面构建、版本、文档、FAQ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962150" y="29146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D628F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4438650" y="35623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8575">
              <a:solidFill>
                <a:srgbClr val="8F482F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915150" y="29146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4F6237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9391650" y="35623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8575">
              <a:solidFill>
                <a:srgbClr val="F4C95D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914400" y="5524500"/>
            <a:ext cx="10363200" cy="609600"/>
            <a:chOff x="914400" y="5524500"/>
            <a:chExt cx="10363200" cy="609600"/>
          </a:xfrm>
        </p:grpSpPr>
        <p:sp>
          <p:nvSpPr>
            <p:cNvPr id="28" name="Rectangle 28"/>
            <p:cNvSpPr/>
            <p:nvPr/>
          </p:nvSpPr>
          <p:spPr>
            <a:xfrm>
              <a:off x="914400" y="5524500"/>
              <a:ext cx="10363200" cy="609600"/>
            </a:xfrm>
            <a:prstGeom prst="roundRect">
              <a:avLst>
                <a:gd name="adj" fmla="val 12500"/>
              </a:avLst>
            </a:prstGeom>
            <a:solidFill>
              <a:srgbClr val="1D232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55395" y="57369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最终目标：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03145" y="5736908"/>
              <a:ext cx="73798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成为团队可以长期运行、持续扩展、跨端协作的本地 AI 工程工作台。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881360" y="6309360"/>
            <a:ext cx="617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